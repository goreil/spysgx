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13" r:id="rId2"/>
    <p:sldId id="377" r:id="rId3"/>
    <p:sldId id="288" r:id="rId4"/>
    <p:sldId id="380" r:id="rId5"/>
    <p:sldId id="354" r:id="rId6"/>
    <p:sldId id="397" r:id="rId7"/>
    <p:sldId id="394" r:id="rId8"/>
    <p:sldId id="384" r:id="rId9"/>
    <p:sldId id="382" r:id="rId10"/>
    <p:sldId id="285" r:id="rId11"/>
    <p:sldId id="368" r:id="rId12"/>
    <p:sldId id="385" r:id="rId13"/>
    <p:sldId id="366" r:id="rId14"/>
    <p:sldId id="356" r:id="rId15"/>
    <p:sldId id="393" r:id="rId16"/>
    <p:sldId id="357" r:id="rId17"/>
    <p:sldId id="395" r:id="rId18"/>
    <p:sldId id="386" r:id="rId19"/>
    <p:sldId id="396" r:id="rId20"/>
    <p:sldId id="371" r:id="rId21"/>
    <p:sldId id="317" r:id="rId22"/>
    <p:sldId id="374" r:id="rId23"/>
    <p:sldId id="375" r:id="rId24"/>
    <p:sldId id="387" r:id="rId25"/>
    <p:sldId id="398" r:id="rId26"/>
    <p:sldId id="400" r:id="rId27"/>
    <p:sldId id="365" r:id="rId28"/>
    <p:sldId id="292" r:id="rId29"/>
    <p:sldId id="320" r:id="rId30"/>
    <p:sldId id="401" r:id="rId31"/>
    <p:sldId id="392" r:id="rId32"/>
    <p:sldId id="388" r:id="rId33"/>
    <p:sldId id="350" r:id="rId34"/>
    <p:sldId id="359" r:id="rId35"/>
    <p:sldId id="389" r:id="rId36"/>
    <p:sldId id="358" r:id="rId37"/>
    <p:sldId id="3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08E4C3-546C-4F02-B8BA-1DAC70A19A4C}">
          <p14:sldIdLst>
            <p14:sldId id="313"/>
            <p14:sldId id="377"/>
            <p14:sldId id="288"/>
            <p14:sldId id="380"/>
            <p14:sldId id="354"/>
          </p14:sldIdLst>
        </p14:section>
        <p14:section name="Summary Section" id="{E12772F2-B952-4676-ADC3-E95DCD586DBE}">
          <p14:sldIdLst>
            <p14:sldId id="397"/>
          </p14:sldIdLst>
        </p14:section>
        <p14:section name="Emulator-based Data Collection" id="{06DE636D-DF44-4F82-91E4-BB2FABC496E8}">
          <p14:sldIdLst>
            <p14:sldId id="394"/>
            <p14:sldId id="384"/>
            <p14:sldId id="382"/>
            <p14:sldId id="285"/>
          </p14:sldIdLst>
        </p14:section>
        <p14:section name="Novel Method for Reversing Secrets from Memory Traces" id="{2B114115-D75D-4DA2-937E-458043120D6C}">
          <p14:sldIdLst>
            <p14:sldId id="368"/>
            <p14:sldId id="385"/>
            <p14:sldId id="366"/>
            <p14:sldId id="356"/>
            <p14:sldId id="393"/>
            <p14:sldId id="357"/>
          </p14:sldIdLst>
        </p14:section>
        <p14:section name="Missing Data Heuristic" id="{94C86A25-CAE2-4114-8AE4-032782D20A36}">
          <p14:sldIdLst>
            <p14:sldId id="395"/>
            <p14:sldId id="386"/>
            <p14:sldId id="396"/>
            <p14:sldId id="371"/>
          </p14:sldIdLst>
        </p14:section>
        <p14:section name="Results + Discussion" id="{61030F0A-94CC-4FFB-94E2-F31A03A1FDE4}">
          <p14:sldIdLst>
            <p14:sldId id="317"/>
            <p14:sldId id="374"/>
            <p14:sldId id="375"/>
            <p14:sldId id="387"/>
            <p14:sldId id="398"/>
            <p14:sldId id="400"/>
            <p14:sldId id="365"/>
            <p14:sldId id="292"/>
            <p14:sldId id="320"/>
            <p14:sldId id="401"/>
          </p14:sldIdLst>
        </p14:section>
        <p14:section name="Backup slides" id="{A11BA0D6-0328-419F-8603-5480F2E59961}">
          <p14:sldIdLst>
            <p14:sldId id="392"/>
            <p14:sldId id="388"/>
            <p14:sldId id="350"/>
            <p14:sldId id="359"/>
            <p14:sldId id="389"/>
            <p14:sldId id="358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F32B9F-66F8-4F76-AF45-CA8E4303812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9B7D21-8F78-4AD0-AB41-DEF521F241F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Not tested on real-world SGX libraries</a:t>
          </a:r>
          <a:endParaRPr lang="en-US"/>
        </a:p>
      </dgm:t>
    </dgm:pt>
    <dgm:pt modelId="{35AD3F89-C0D6-45C7-89B6-4F6B32430083}" type="parTrans" cxnId="{985F3AA2-4206-4DF1-9FB5-91517306077D}">
      <dgm:prSet/>
      <dgm:spPr/>
      <dgm:t>
        <a:bodyPr/>
        <a:lstStyle/>
        <a:p>
          <a:endParaRPr lang="en-US"/>
        </a:p>
      </dgm:t>
    </dgm:pt>
    <dgm:pt modelId="{364A9F20-4E45-4A10-8C35-56DC19267CF5}" type="sibTrans" cxnId="{985F3AA2-4206-4DF1-9FB5-91517306077D}">
      <dgm:prSet/>
      <dgm:spPr/>
      <dgm:t>
        <a:bodyPr/>
        <a:lstStyle/>
        <a:p>
          <a:endParaRPr lang="en-US"/>
        </a:p>
      </dgm:t>
    </dgm:pt>
    <dgm:pt modelId="{456E0A7D-410F-452D-AAB4-A433E8885F6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ym typeface="Wingdings" panose="05000000000000000000" pitchFamily="2" charset="2"/>
            </a:rPr>
            <a:t></a:t>
          </a:r>
          <a:r>
            <a:rPr lang="en-GB" dirty="0"/>
            <a:t> Future work: </a:t>
          </a:r>
          <a:r>
            <a:rPr lang="en-GB" dirty="0" err="1"/>
            <a:t>libgcrypt</a:t>
          </a:r>
          <a:endParaRPr lang="en-US" dirty="0"/>
        </a:p>
      </dgm:t>
    </dgm:pt>
    <dgm:pt modelId="{10840F6F-50DC-4440-8CED-6D4FC1FB7644}" type="parTrans" cxnId="{127506E2-9EDF-4E11-B4BC-3A99A1EEC44C}">
      <dgm:prSet/>
      <dgm:spPr/>
      <dgm:t>
        <a:bodyPr/>
        <a:lstStyle/>
        <a:p>
          <a:endParaRPr lang="en-US"/>
        </a:p>
      </dgm:t>
    </dgm:pt>
    <dgm:pt modelId="{89D5169C-6622-4D43-BCE9-39E62C852A0E}" type="sibTrans" cxnId="{127506E2-9EDF-4E11-B4BC-3A99A1EEC44C}">
      <dgm:prSet/>
      <dgm:spPr/>
      <dgm:t>
        <a:bodyPr/>
        <a:lstStyle/>
        <a:p>
          <a:endParaRPr lang="en-US"/>
        </a:p>
      </dgm:t>
    </dgm:pt>
    <dgm:pt modelId="{7089AADE-310E-41C9-A419-162C6D63966D}" type="pres">
      <dgm:prSet presAssocID="{97F32B9F-66F8-4F76-AF45-CA8E43038125}" presName="root" presStyleCnt="0">
        <dgm:presLayoutVars>
          <dgm:dir/>
          <dgm:resizeHandles val="exact"/>
        </dgm:presLayoutVars>
      </dgm:prSet>
      <dgm:spPr/>
    </dgm:pt>
    <dgm:pt modelId="{BA4EC8C6-3C1E-44EF-A66E-07FFEE92C43D}" type="pres">
      <dgm:prSet presAssocID="{639B7D21-8F78-4AD0-AB41-DEF521F241F6}" presName="compNode" presStyleCnt="0"/>
      <dgm:spPr/>
    </dgm:pt>
    <dgm:pt modelId="{E96C8235-24ED-41E9-BE96-0963C371F91B}" type="pres">
      <dgm:prSet presAssocID="{639B7D21-8F78-4AD0-AB41-DEF521F241F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355F5E5-F8C9-4A06-96D2-AC4E702EC7CF}" type="pres">
      <dgm:prSet presAssocID="{639B7D21-8F78-4AD0-AB41-DEF521F241F6}" presName="spaceRect" presStyleCnt="0"/>
      <dgm:spPr/>
    </dgm:pt>
    <dgm:pt modelId="{7EFC3B38-7EA5-465B-BD6E-4ECF39AC9D2F}" type="pres">
      <dgm:prSet presAssocID="{639B7D21-8F78-4AD0-AB41-DEF521F241F6}" presName="textRect" presStyleLbl="revTx" presStyleIdx="0" presStyleCnt="2">
        <dgm:presLayoutVars>
          <dgm:chMax val="1"/>
          <dgm:chPref val="1"/>
        </dgm:presLayoutVars>
      </dgm:prSet>
      <dgm:spPr/>
    </dgm:pt>
    <dgm:pt modelId="{7F3B93D1-BFC5-4DC3-A121-7FAFCE059D16}" type="pres">
      <dgm:prSet presAssocID="{364A9F20-4E45-4A10-8C35-56DC19267CF5}" presName="sibTrans" presStyleCnt="0"/>
      <dgm:spPr/>
    </dgm:pt>
    <dgm:pt modelId="{EB016004-18B7-4F34-966D-62F8DE4DB729}" type="pres">
      <dgm:prSet presAssocID="{456E0A7D-410F-452D-AAB4-A433E8885F63}" presName="compNode" presStyleCnt="0"/>
      <dgm:spPr/>
    </dgm:pt>
    <dgm:pt modelId="{48E61E82-C824-4DAA-954F-8264DD10289D}" type="pres">
      <dgm:prSet presAssocID="{456E0A7D-410F-452D-AAB4-A433E8885F6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07D1961A-A3C6-4BFA-8DEA-DEB2EA6A245F}" type="pres">
      <dgm:prSet presAssocID="{456E0A7D-410F-452D-AAB4-A433E8885F63}" presName="spaceRect" presStyleCnt="0"/>
      <dgm:spPr/>
    </dgm:pt>
    <dgm:pt modelId="{66CDF637-8BF8-4FE4-9995-8A192C94C641}" type="pres">
      <dgm:prSet presAssocID="{456E0A7D-410F-452D-AAB4-A433E8885F6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0366A43-3E34-446C-8046-125A014DAF21}" type="presOf" srcId="{639B7D21-8F78-4AD0-AB41-DEF521F241F6}" destId="{7EFC3B38-7EA5-465B-BD6E-4ECF39AC9D2F}" srcOrd="0" destOrd="0" presId="urn:microsoft.com/office/officeart/2018/2/layout/IconLabelList"/>
    <dgm:cxn modelId="{E0456849-BBDA-46E1-8C42-9881C9493BCF}" type="presOf" srcId="{97F32B9F-66F8-4F76-AF45-CA8E43038125}" destId="{7089AADE-310E-41C9-A419-162C6D63966D}" srcOrd="0" destOrd="0" presId="urn:microsoft.com/office/officeart/2018/2/layout/IconLabelList"/>
    <dgm:cxn modelId="{985F3AA2-4206-4DF1-9FB5-91517306077D}" srcId="{97F32B9F-66F8-4F76-AF45-CA8E43038125}" destId="{639B7D21-8F78-4AD0-AB41-DEF521F241F6}" srcOrd="0" destOrd="0" parTransId="{35AD3F89-C0D6-45C7-89B6-4F6B32430083}" sibTransId="{364A9F20-4E45-4A10-8C35-56DC19267CF5}"/>
    <dgm:cxn modelId="{DFC96FD5-02ED-4E73-92C2-C8E9A327F869}" type="presOf" srcId="{456E0A7D-410F-452D-AAB4-A433E8885F63}" destId="{66CDF637-8BF8-4FE4-9995-8A192C94C641}" srcOrd="0" destOrd="0" presId="urn:microsoft.com/office/officeart/2018/2/layout/IconLabelList"/>
    <dgm:cxn modelId="{127506E2-9EDF-4E11-B4BC-3A99A1EEC44C}" srcId="{97F32B9F-66F8-4F76-AF45-CA8E43038125}" destId="{456E0A7D-410F-452D-AAB4-A433E8885F63}" srcOrd="1" destOrd="0" parTransId="{10840F6F-50DC-4440-8CED-6D4FC1FB7644}" sibTransId="{89D5169C-6622-4D43-BCE9-39E62C852A0E}"/>
    <dgm:cxn modelId="{9DBCFA24-6FE2-4DFB-ABE9-1060D327F4D7}" type="presParOf" srcId="{7089AADE-310E-41C9-A419-162C6D63966D}" destId="{BA4EC8C6-3C1E-44EF-A66E-07FFEE92C43D}" srcOrd="0" destOrd="0" presId="urn:microsoft.com/office/officeart/2018/2/layout/IconLabelList"/>
    <dgm:cxn modelId="{7F0A5910-F451-489C-8174-8AE31ABDB574}" type="presParOf" srcId="{BA4EC8C6-3C1E-44EF-A66E-07FFEE92C43D}" destId="{E96C8235-24ED-41E9-BE96-0963C371F91B}" srcOrd="0" destOrd="0" presId="urn:microsoft.com/office/officeart/2018/2/layout/IconLabelList"/>
    <dgm:cxn modelId="{0B4AE810-9798-416E-84E9-74F47C0EB2AE}" type="presParOf" srcId="{BA4EC8C6-3C1E-44EF-A66E-07FFEE92C43D}" destId="{B355F5E5-F8C9-4A06-96D2-AC4E702EC7CF}" srcOrd="1" destOrd="0" presId="urn:microsoft.com/office/officeart/2018/2/layout/IconLabelList"/>
    <dgm:cxn modelId="{64F56640-E2EC-4050-94FD-02DE0982EFBA}" type="presParOf" srcId="{BA4EC8C6-3C1E-44EF-A66E-07FFEE92C43D}" destId="{7EFC3B38-7EA5-465B-BD6E-4ECF39AC9D2F}" srcOrd="2" destOrd="0" presId="urn:microsoft.com/office/officeart/2018/2/layout/IconLabelList"/>
    <dgm:cxn modelId="{262431D8-BBBF-446D-84F1-A0FE695039EE}" type="presParOf" srcId="{7089AADE-310E-41C9-A419-162C6D63966D}" destId="{7F3B93D1-BFC5-4DC3-A121-7FAFCE059D16}" srcOrd="1" destOrd="0" presId="urn:microsoft.com/office/officeart/2018/2/layout/IconLabelList"/>
    <dgm:cxn modelId="{BE7E48D5-8032-4C1C-BED6-7FCDBC9A056C}" type="presParOf" srcId="{7089AADE-310E-41C9-A419-162C6D63966D}" destId="{EB016004-18B7-4F34-966D-62F8DE4DB729}" srcOrd="2" destOrd="0" presId="urn:microsoft.com/office/officeart/2018/2/layout/IconLabelList"/>
    <dgm:cxn modelId="{E7A6FCA8-DDF7-449B-8243-608AE99A2E18}" type="presParOf" srcId="{EB016004-18B7-4F34-966D-62F8DE4DB729}" destId="{48E61E82-C824-4DAA-954F-8264DD10289D}" srcOrd="0" destOrd="0" presId="urn:microsoft.com/office/officeart/2018/2/layout/IconLabelList"/>
    <dgm:cxn modelId="{3C5F536D-2DE8-4FB1-A0A2-34347EFC8801}" type="presParOf" srcId="{EB016004-18B7-4F34-966D-62F8DE4DB729}" destId="{07D1961A-A3C6-4BFA-8DEA-DEB2EA6A245F}" srcOrd="1" destOrd="0" presId="urn:microsoft.com/office/officeart/2018/2/layout/IconLabelList"/>
    <dgm:cxn modelId="{AEA0EC93-9C09-46D7-A8A7-0E6077EC9E68}" type="presParOf" srcId="{EB016004-18B7-4F34-966D-62F8DE4DB729}" destId="{66CDF637-8BF8-4FE4-9995-8A192C94C6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B530CC-71F6-4200-A83C-F3C659A6FF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054DB3-7258-41C9-B7E9-7F66ABF544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Generic approach to analyze any SGX-Library (Limitation: Emulator)</a:t>
          </a:r>
        </a:p>
      </dgm:t>
    </dgm:pt>
    <dgm:pt modelId="{437A38DB-C5FB-493B-9284-213DBC2B7377}" type="parTrans" cxnId="{28846DBD-55E4-4D84-AD77-EB4A085E8390}">
      <dgm:prSet/>
      <dgm:spPr/>
      <dgm:t>
        <a:bodyPr/>
        <a:lstStyle/>
        <a:p>
          <a:endParaRPr lang="en-US"/>
        </a:p>
      </dgm:t>
    </dgm:pt>
    <dgm:pt modelId="{34AA3EB0-009D-4669-B356-13AF98262B99}" type="sibTrans" cxnId="{28846DBD-55E4-4D84-AD77-EB4A085E8390}">
      <dgm:prSet/>
      <dgm:spPr/>
      <dgm:t>
        <a:bodyPr/>
        <a:lstStyle/>
        <a:p>
          <a:endParaRPr lang="en-US"/>
        </a:p>
      </dgm:t>
    </dgm:pt>
    <dgm:pt modelId="{17049AF8-3F94-482F-A728-F4D57A157E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Proven vulnerabilities </a:t>
          </a:r>
          <a:r>
            <a:rPr lang="en-GB">
              <a:sym typeface="Wingdings" panose="05000000000000000000" pitchFamily="2" charset="2"/>
            </a:rPr>
            <a:t></a:t>
          </a:r>
          <a:r>
            <a:rPr lang="en-GB"/>
            <a:t> More urgent fixes</a:t>
          </a:r>
          <a:endParaRPr lang="en-US"/>
        </a:p>
      </dgm:t>
    </dgm:pt>
    <dgm:pt modelId="{476DABD5-27E6-46EB-B2C3-D58DFCB42962}" type="parTrans" cxnId="{1EC888E2-3D40-4CCF-94D7-8D43C8A374B7}">
      <dgm:prSet/>
      <dgm:spPr/>
      <dgm:t>
        <a:bodyPr/>
        <a:lstStyle/>
        <a:p>
          <a:endParaRPr lang="en-US"/>
        </a:p>
      </dgm:t>
    </dgm:pt>
    <dgm:pt modelId="{EE332E67-4F0A-4431-93EC-C1FA69821CBF}" type="sibTrans" cxnId="{1EC888E2-3D40-4CCF-94D7-8D43C8A374B7}">
      <dgm:prSet/>
      <dgm:spPr/>
      <dgm:t>
        <a:bodyPr/>
        <a:lstStyle/>
        <a:p>
          <a:endParaRPr lang="en-US"/>
        </a:p>
      </dgm:t>
    </dgm:pt>
    <dgm:pt modelId="{6A047AF1-317B-49F1-9021-6F04A09DCBB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Novel approach applicable to other fields: Side-Channel analysis</a:t>
          </a:r>
          <a:endParaRPr lang="en-US"/>
        </a:p>
      </dgm:t>
    </dgm:pt>
    <dgm:pt modelId="{ABC3C6EA-6806-40AB-BB3C-06CB8485972A}" type="parTrans" cxnId="{7992B69E-1F14-4AD0-BA05-0E9A55211689}">
      <dgm:prSet/>
      <dgm:spPr/>
      <dgm:t>
        <a:bodyPr/>
        <a:lstStyle/>
        <a:p>
          <a:endParaRPr lang="en-US"/>
        </a:p>
      </dgm:t>
    </dgm:pt>
    <dgm:pt modelId="{D485FE81-1541-4D83-8D5A-076319620C04}" type="sibTrans" cxnId="{7992B69E-1F14-4AD0-BA05-0E9A55211689}">
      <dgm:prSet/>
      <dgm:spPr/>
      <dgm:t>
        <a:bodyPr/>
        <a:lstStyle/>
        <a:p>
          <a:endParaRPr lang="en-US"/>
        </a:p>
      </dgm:t>
    </dgm:pt>
    <dgm:pt modelId="{3E45305E-3DF8-4829-8155-A12B03E9D8A6}" type="pres">
      <dgm:prSet presAssocID="{4BB530CC-71F6-4200-A83C-F3C659A6FF66}" presName="root" presStyleCnt="0">
        <dgm:presLayoutVars>
          <dgm:dir/>
          <dgm:resizeHandles val="exact"/>
        </dgm:presLayoutVars>
      </dgm:prSet>
      <dgm:spPr/>
    </dgm:pt>
    <dgm:pt modelId="{3C47DFBF-1A39-4BAD-B358-9D4E6978D20E}" type="pres">
      <dgm:prSet presAssocID="{1C054DB3-7258-41C9-B7E9-7F66ABF54469}" presName="compNode" presStyleCnt="0"/>
      <dgm:spPr/>
    </dgm:pt>
    <dgm:pt modelId="{5FF36D6C-73DB-45CE-9BE4-670917CA7152}" type="pres">
      <dgm:prSet presAssocID="{1C054DB3-7258-41C9-B7E9-7F66ABF54469}" presName="bgRect" presStyleLbl="bgShp" presStyleIdx="0" presStyleCnt="3"/>
      <dgm:spPr/>
    </dgm:pt>
    <dgm:pt modelId="{2BD5D5D9-2B6A-4B35-A1E3-1B84B38F7581}" type="pres">
      <dgm:prSet presAssocID="{1C054DB3-7258-41C9-B7E9-7F66ABF544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5A68BFE1-FB94-458B-8FC8-9EE478AA65F3}" type="pres">
      <dgm:prSet presAssocID="{1C054DB3-7258-41C9-B7E9-7F66ABF54469}" presName="spaceRect" presStyleCnt="0"/>
      <dgm:spPr/>
    </dgm:pt>
    <dgm:pt modelId="{B41AC22D-8C7C-475D-A572-4FDBAEA9190C}" type="pres">
      <dgm:prSet presAssocID="{1C054DB3-7258-41C9-B7E9-7F66ABF54469}" presName="parTx" presStyleLbl="revTx" presStyleIdx="0" presStyleCnt="3">
        <dgm:presLayoutVars>
          <dgm:chMax val="0"/>
          <dgm:chPref val="0"/>
        </dgm:presLayoutVars>
      </dgm:prSet>
      <dgm:spPr/>
    </dgm:pt>
    <dgm:pt modelId="{81CAD5D6-41AF-498D-B05F-17C84FAF1D96}" type="pres">
      <dgm:prSet presAssocID="{34AA3EB0-009D-4669-B356-13AF98262B99}" presName="sibTrans" presStyleCnt="0"/>
      <dgm:spPr/>
    </dgm:pt>
    <dgm:pt modelId="{B168A176-94C8-4E03-B398-0DE2E88F7509}" type="pres">
      <dgm:prSet presAssocID="{17049AF8-3F94-482F-A728-F4D57A157E6E}" presName="compNode" presStyleCnt="0"/>
      <dgm:spPr/>
    </dgm:pt>
    <dgm:pt modelId="{8D863B78-4AF5-45C7-8406-1801DF8DC988}" type="pres">
      <dgm:prSet presAssocID="{17049AF8-3F94-482F-A728-F4D57A157E6E}" presName="bgRect" presStyleLbl="bgShp" presStyleIdx="1" presStyleCnt="3"/>
      <dgm:spPr/>
    </dgm:pt>
    <dgm:pt modelId="{45EF9D14-A8F0-4EA8-9FE4-2573EE4E4F29}" type="pres">
      <dgm:prSet presAssocID="{17049AF8-3F94-482F-A728-F4D57A157E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712934F-FEF3-4D81-8C8A-C5FB10EACC76}" type="pres">
      <dgm:prSet presAssocID="{17049AF8-3F94-482F-A728-F4D57A157E6E}" presName="spaceRect" presStyleCnt="0"/>
      <dgm:spPr/>
    </dgm:pt>
    <dgm:pt modelId="{014CECB9-3B38-4F21-84DE-9EBAB3A03922}" type="pres">
      <dgm:prSet presAssocID="{17049AF8-3F94-482F-A728-F4D57A157E6E}" presName="parTx" presStyleLbl="revTx" presStyleIdx="1" presStyleCnt="3">
        <dgm:presLayoutVars>
          <dgm:chMax val="0"/>
          <dgm:chPref val="0"/>
        </dgm:presLayoutVars>
      </dgm:prSet>
      <dgm:spPr/>
    </dgm:pt>
    <dgm:pt modelId="{189F4803-832C-43FA-BFD5-425DEFA41F67}" type="pres">
      <dgm:prSet presAssocID="{EE332E67-4F0A-4431-93EC-C1FA69821CBF}" presName="sibTrans" presStyleCnt="0"/>
      <dgm:spPr/>
    </dgm:pt>
    <dgm:pt modelId="{A958CEB8-7728-4DB8-93B6-4B3945DD1A86}" type="pres">
      <dgm:prSet presAssocID="{6A047AF1-317B-49F1-9021-6F04A09DCBB7}" presName="compNode" presStyleCnt="0"/>
      <dgm:spPr/>
    </dgm:pt>
    <dgm:pt modelId="{CD8ED0B1-177C-4ED3-BEB8-64A9A399D395}" type="pres">
      <dgm:prSet presAssocID="{6A047AF1-317B-49F1-9021-6F04A09DCBB7}" presName="bgRect" presStyleLbl="bgShp" presStyleIdx="2" presStyleCnt="3"/>
      <dgm:spPr/>
    </dgm:pt>
    <dgm:pt modelId="{C7644950-2198-47D2-AF2F-704196BE7DFF}" type="pres">
      <dgm:prSet presAssocID="{6A047AF1-317B-49F1-9021-6F04A09DCB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3CEAD70-8933-4423-A68F-CFC9C826B6DF}" type="pres">
      <dgm:prSet presAssocID="{6A047AF1-317B-49F1-9021-6F04A09DCBB7}" presName="spaceRect" presStyleCnt="0"/>
      <dgm:spPr/>
    </dgm:pt>
    <dgm:pt modelId="{5CDF5166-A7AB-4A05-9E66-F8F0EF47D35E}" type="pres">
      <dgm:prSet presAssocID="{6A047AF1-317B-49F1-9021-6F04A09DCBB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EA6B622-5996-467F-A047-0BBE7C2CC61E}" type="presOf" srcId="{17049AF8-3F94-482F-A728-F4D57A157E6E}" destId="{014CECB9-3B38-4F21-84DE-9EBAB3A03922}" srcOrd="0" destOrd="0" presId="urn:microsoft.com/office/officeart/2018/2/layout/IconVerticalSolidList"/>
    <dgm:cxn modelId="{19F5D336-A01E-48ED-9B3A-12CBB3CF2745}" type="presOf" srcId="{1C054DB3-7258-41C9-B7E9-7F66ABF54469}" destId="{B41AC22D-8C7C-475D-A572-4FDBAEA9190C}" srcOrd="0" destOrd="0" presId="urn:microsoft.com/office/officeart/2018/2/layout/IconVerticalSolidList"/>
    <dgm:cxn modelId="{96445F9A-862B-4A81-BB5B-9F5093A9C32C}" type="presOf" srcId="{4BB530CC-71F6-4200-A83C-F3C659A6FF66}" destId="{3E45305E-3DF8-4829-8155-A12B03E9D8A6}" srcOrd="0" destOrd="0" presId="urn:microsoft.com/office/officeart/2018/2/layout/IconVerticalSolidList"/>
    <dgm:cxn modelId="{7992B69E-1F14-4AD0-BA05-0E9A55211689}" srcId="{4BB530CC-71F6-4200-A83C-F3C659A6FF66}" destId="{6A047AF1-317B-49F1-9021-6F04A09DCBB7}" srcOrd="2" destOrd="0" parTransId="{ABC3C6EA-6806-40AB-BB3C-06CB8485972A}" sibTransId="{D485FE81-1541-4D83-8D5A-076319620C04}"/>
    <dgm:cxn modelId="{28846DBD-55E4-4D84-AD77-EB4A085E8390}" srcId="{4BB530CC-71F6-4200-A83C-F3C659A6FF66}" destId="{1C054DB3-7258-41C9-B7E9-7F66ABF54469}" srcOrd="0" destOrd="0" parTransId="{437A38DB-C5FB-493B-9284-213DBC2B7377}" sibTransId="{34AA3EB0-009D-4669-B356-13AF98262B99}"/>
    <dgm:cxn modelId="{3E70CDD7-0174-4041-A8D6-05D58FBADD0F}" type="presOf" srcId="{6A047AF1-317B-49F1-9021-6F04A09DCBB7}" destId="{5CDF5166-A7AB-4A05-9E66-F8F0EF47D35E}" srcOrd="0" destOrd="0" presId="urn:microsoft.com/office/officeart/2018/2/layout/IconVerticalSolidList"/>
    <dgm:cxn modelId="{1EC888E2-3D40-4CCF-94D7-8D43C8A374B7}" srcId="{4BB530CC-71F6-4200-A83C-F3C659A6FF66}" destId="{17049AF8-3F94-482F-A728-F4D57A157E6E}" srcOrd="1" destOrd="0" parTransId="{476DABD5-27E6-46EB-B2C3-D58DFCB42962}" sibTransId="{EE332E67-4F0A-4431-93EC-C1FA69821CBF}"/>
    <dgm:cxn modelId="{A72D0031-1731-4D63-9E84-F232870D7B41}" type="presParOf" srcId="{3E45305E-3DF8-4829-8155-A12B03E9D8A6}" destId="{3C47DFBF-1A39-4BAD-B358-9D4E6978D20E}" srcOrd="0" destOrd="0" presId="urn:microsoft.com/office/officeart/2018/2/layout/IconVerticalSolidList"/>
    <dgm:cxn modelId="{1E81D9E7-4D36-49CE-A0FC-B9FCA4276886}" type="presParOf" srcId="{3C47DFBF-1A39-4BAD-B358-9D4E6978D20E}" destId="{5FF36D6C-73DB-45CE-9BE4-670917CA7152}" srcOrd="0" destOrd="0" presId="urn:microsoft.com/office/officeart/2018/2/layout/IconVerticalSolidList"/>
    <dgm:cxn modelId="{94E32EFB-49B0-4368-B046-F01E93F9D3BC}" type="presParOf" srcId="{3C47DFBF-1A39-4BAD-B358-9D4E6978D20E}" destId="{2BD5D5D9-2B6A-4B35-A1E3-1B84B38F7581}" srcOrd="1" destOrd="0" presId="urn:microsoft.com/office/officeart/2018/2/layout/IconVerticalSolidList"/>
    <dgm:cxn modelId="{97D6CAEE-C392-4AC9-8205-6BEE5C326A7C}" type="presParOf" srcId="{3C47DFBF-1A39-4BAD-B358-9D4E6978D20E}" destId="{5A68BFE1-FB94-458B-8FC8-9EE478AA65F3}" srcOrd="2" destOrd="0" presId="urn:microsoft.com/office/officeart/2018/2/layout/IconVerticalSolidList"/>
    <dgm:cxn modelId="{E4243694-A1ED-4580-B738-33274BDEA9AA}" type="presParOf" srcId="{3C47DFBF-1A39-4BAD-B358-9D4E6978D20E}" destId="{B41AC22D-8C7C-475D-A572-4FDBAEA9190C}" srcOrd="3" destOrd="0" presId="urn:microsoft.com/office/officeart/2018/2/layout/IconVerticalSolidList"/>
    <dgm:cxn modelId="{034BBDEC-852D-46F1-BB93-65559BD768CF}" type="presParOf" srcId="{3E45305E-3DF8-4829-8155-A12B03E9D8A6}" destId="{81CAD5D6-41AF-498D-B05F-17C84FAF1D96}" srcOrd="1" destOrd="0" presId="urn:microsoft.com/office/officeart/2018/2/layout/IconVerticalSolidList"/>
    <dgm:cxn modelId="{B1335D0E-9E87-41A7-AD4A-34291BFB7E15}" type="presParOf" srcId="{3E45305E-3DF8-4829-8155-A12B03E9D8A6}" destId="{B168A176-94C8-4E03-B398-0DE2E88F7509}" srcOrd="2" destOrd="0" presId="urn:microsoft.com/office/officeart/2018/2/layout/IconVerticalSolidList"/>
    <dgm:cxn modelId="{67BCEAE8-0A84-479A-84DC-7B25F0DD93E4}" type="presParOf" srcId="{B168A176-94C8-4E03-B398-0DE2E88F7509}" destId="{8D863B78-4AF5-45C7-8406-1801DF8DC988}" srcOrd="0" destOrd="0" presId="urn:microsoft.com/office/officeart/2018/2/layout/IconVerticalSolidList"/>
    <dgm:cxn modelId="{E439AE8B-0F6F-420F-BD88-B99761B3C707}" type="presParOf" srcId="{B168A176-94C8-4E03-B398-0DE2E88F7509}" destId="{45EF9D14-A8F0-4EA8-9FE4-2573EE4E4F29}" srcOrd="1" destOrd="0" presId="urn:microsoft.com/office/officeart/2018/2/layout/IconVerticalSolidList"/>
    <dgm:cxn modelId="{2E25B205-C6A1-4DA2-942A-7F39F6F0506B}" type="presParOf" srcId="{B168A176-94C8-4E03-B398-0DE2E88F7509}" destId="{E712934F-FEF3-4D81-8C8A-C5FB10EACC76}" srcOrd="2" destOrd="0" presId="urn:microsoft.com/office/officeart/2018/2/layout/IconVerticalSolidList"/>
    <dgm:cxn modelId="{B46CAE52-A432-4673-8ACC-5C7E21829761}" type="presParOf" srcId="{B168A176-94C8-4E03-B398-0DE2E88F7509}" destId="{014CECB9-3B38-4F21-84DE-9EBAB3A03922}" srcOrd="3" destOrd="0" presId="urn:microsoft.com/office/officeart/2018/2/layout/IconVerticalSolidList"/>
    <dgm:cxn modelId="{3547D886-89BE-4BD0-B520-8239EE4B9F80}" type="presParOf" srcId="{3E45305E-3DF8-4829-8155-A12B03E9D8A6}" destId="{189F4803-832C-43FA-BFD5-425DEFA41F67}" srcOrd="3" destOrd="0" presId="urn:microsoft.com/office/officeart/2018/2/layout/IconVerticalSolidList"/>
    <dgm:cxn modelId="{0FC37F53-24C7-43F7-B6C4-458161BFD915}" type="presParOf" srcId="{3E45305E-3DF8-4829-8155-A12B03E9D8A6}" destId="{A958CEB8-7728-4DB8-93B6-4B3945DD1A86}" srcOrd="4" destOrd="0" presId="urn:microsoft.com/office/officeart/2018/2/layout/IconVerticalSolidList"/>
    <dgm:cxn modelId="{0B495398-5D33-44C9-8CCB-DCCC6F081F98}" type="presParOf" srcId="{A958CEB8-7728-4DB8-93B6-4B3945DD1A86}" destId="{CD8ED0B1-177C-4ED3-BEB8-64A9A399D395}" srcOrd="0" destOrd="0" presId="urn:microsoft.com/office/officeart/2018/2/layout/IconVerticalSolidList"/>
    <dgm:cxn modelId="{43DE10FF-90F4-4076-990F-B59867A99D74}" type="presParOf" srcId="{A958CEB8-7728-4DB8-93B6-4B3945DD1A86}" destId="{C7644950-2198-47D2-AF2F-704196BE7DFF}" srcOrd="1" destOrd="0" presId="urn:microsoft.com/office/officeart/2018/2/layout/IconVerticalSolidList"/>
    <dgm:cxn modelId="{FEE788C0-9968-495E-99B7-B4C1E43693C2}" type="presParOf" srcId="{A958CEB8-7728-4DB8-93B6-4B3945DD1A86}" destId="{B3CEAD70-8933-4423-A68F-CFC9C826B6DF}" srcOrd="2" destOrd="0" presId="urn:microsoft.com/office/officeart/2018/2/layout/IconVerticalSolidList"/>
    <dgm:cxn modelId="{46A17DA1-FF7C-4D62-86F2-CCF7EB0841F8}" type="presParOf" srcId="{A958CEB8-7728-4DB8-93B6-4B3945DD1A86}" destId="{5CDF5166-A7AB-4A05-9E66-F8F0EF47D3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C8235-24ED-41E9-BE96-0963C371F91B}">
      <dsp:nvSpPr>
        <dsp:cNvPr id="0" name=""/>
        <dsp:cNvSpPr/>
      </dsp:nvSpPr>
      <dsp:spPr>
        <a:xfrm>
          <a:off x="668502" y="796307"/>
          <a:ext cx="1058062" cy="1058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C3B38-7EA5-465B-BD6E-4ECF39AC9D2F}">
      <dsp:nvSpPr>
        <dsp:cNvPr id="0" name=""/>
        <dsp:cNvSpPr/>
      </dsp:nvSpPr>
      <dsp:spPr>
        <a:xfrm>
          <a:off x="21909" y="2168280"/>
          <a:ext cx="235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Not tested on real-world SGX libraries</a:t>
          </a:r>
          <a:endParaRPr lang="en-US" sz="2300" kern="1200"/>
        </a:p>
      </dsp:txBody>
      <dsp:txXfrm>
        <a:off x="21909" y="2168280"/>
        <a:ext cx="2351250" cy="720000"/>
      </dsp:txXfrm>
    </dsp:sp>
    <dsp:sp modelId="{48E61E82-C824-4DAA-954F-8264DD10289D}">
      <dsp:nvSpPr>
        <dsp:cNvPr id="0" name=""/>
        <dsp:cNvSpPr/>
      </dsp:nvSpPr>
      <dsp:spPr>
        <a:xfrm>
          <a:off x="3431221" y="796307"/>
          <a:ext cx="1058062" cy="1058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DF637-8BF8-4FE4-9995-8A192C94C641}">
      <dsp:nvSpPr>
        <dsp:cNvPr id="0" name=""/>
        <dsp:cNvSpPr/>
      </dsp:nvSpPr>
      <dsp:spPr>
        <a:xfrm>
          <a:off x="2784627" y="2168280"/>
          <a:ext cx="235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ym typeface="Wingdings" panose="05000000000000000000" pitchFamily="2" charset="2"/>
            </a:rPr>
            <a:t></a:t>
          </a:r>
          <a:r>
            <a:rPr lang="en-GB" sz="2300" kern="1200" dirty="0"/>
            <a:t> Future work: </a:t>
          </a:r>
          <a:r>
            <a:rPr lang="en-GB" sz="2300" kern="1200" dirty="0" err="1"/>
            <a:t>libgcrypt</a:t>
          </a:r>
          <a:endParaRPr lang="en-US" sz="2300" kern="1200" dirty="0"/>
        </a:p>
      </dsp:txBody>
      <dsp:txXfrm>
        <a:off x="2784627" y="2168280"/>
        <a:ext cx="235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36D6C-73DB-45CE-9BE4-670917CA7152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5D5D9-2B6A-4B35-A1E3-1B84B38F758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AC22D-8C7C-475D-A572-4FDBAEA9190C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Generic approach to analyze any SGX-Library (Limitation: Emulator)</a:t>
          </a:r>
        </a:p>
      </dsp:txBody>
      <dsp:txXfrm>
        <a:off x="1435590" y="531"/>
        <a:ext cx="9080009" cy="1242935"/>
      </dsp:txXfrm>
    </dsp:sp>
    <dsp:sp modelId="{8D863B78-4AF5-45C7-8406-1801DF8DC988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F9D14-A8F0-4EA8-9FE4-2573EE4E4F2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CECB9-3B38-4F21-84DE-9EBAB3A03922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Proven vulnerabilities </a:t>
          </a:r>
          <a:r>
            <a:rPr lang="en-GB" sz="2500" kern="1200">
              <a:sym typeface="Wingdings" panose="05000000000000000000" pitchFamily="2" charset="2"/>
            </a:rPr>
            <a:t></a:t>
          </a:r>
          <a:r>
            <a:rPr lang="en-GB" sz="2500" kern="1200"/>
            <a:t> More urgent fixes</a:t>
          </a:r>
          <a:endParaRPr lang="en-US" sz="2500" kern="1200"/>
        </a:p>
      </dsp:txBody>
      <dsp:txXfrm>
        <a:off x="1435590" y="1554201"/>
        <a:ext cx="9080009" cy="1242935"/>
      </dsp:txXfrm>
    </dsp:sp>
    <dsp:sp modelId="{CD8ED0B1-177C-4ED3-BEB8-64A9A399D395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44950-2198-47D2-AF2F-704196BE7DF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F5166-A7AB-4A05-9E66-F8F0EF47D35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Novel approach applicable to other fields: Side-Channel analysis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C91A3-9D65-4BC7-907C-DD244D1375B7}" type="datetimeFigureOut">
              <a:rPr lang="en-GB" smtClean="0"/>
              <a:t>08/06/2023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C3FCC-FFCC-4EFA-988A-1A23D0EAFD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88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3FCC-FFCC-4EFA-988A-1A23D0EAFD0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782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822E-A60D-BEF5-2D10-E3D50E291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C1548-B7D1-694A-2485-925D13286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A3674-20CF-9446-D983-5A1BF90D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BCAC-E2FE-43AA-9A94-9A2AEDC82185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1A551-4AF0-31D9-1C8E-929EC23F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176DA-3F19-6866-79B5-946F223D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812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3C99-323A-4817-42D9-0A19FF88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071D-62C6-4016-FFA9-45C40B64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5B81C-3E5C-149B-EDCF-9B94F0A0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7F7F-47DE-4E71-8090-86652F01A418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3C011-B914-EAAE-CACA-73750980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D2A3C-1E1B-57BA-3EF5-9D17878D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673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5D67-4A92-0BD6-3272-4514164E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34B3C-4DE0-0EA4-4710-72FF1714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07CEA-9346-5D0A-7BA7-8BC5DFFB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23411-4E17-4EFC-A2FF-FF36F7F88FDF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BDC4F-E92D-C847-4311-8444B636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FAA0E-80E6-3E81-C0CB-2E4161D8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16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F7F9-30DD-D598-871C-EEA1D617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7EB00-CE84-368D-E7F8-566508FBC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0E818-3F3D-64C4-CFD5-FE867C98F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2C783-1E83-9015-BE07-ABBAEDDB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1B9E-54BA-48DF-BEE8-0E5DDA378CDF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B3AF4-FBF7-AB7E-333B-BD9D120B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ED8F3-9848-1CC6-5897-0269433A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835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F666-BDA9-5179-FA77-80A4A1F17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9926E-C584-BC8E-E5B9-6F408FC0F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CEB3E-8ECF-CE9D-E638-F18F682EC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4CFFB-B6BF-39E6-CCBE-F9909EE90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5D4C0-03DD-FFF2-0DB4-34E992D8B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5AD8F-EA91-EC84-D03F-215C2EFF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2DB2-2DFA-4099-A076-EDB682750C40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E4781-8403-0767-8368-8D032F4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E50ED-B533-FEB4-C8EF-C3EE8E2D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13E7-2BB8-4235-E4F2-1C590B98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1AD07-B161-C83B-30B5-9BBFDE46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65EDC-3DCD-48B4-B46F-7383097A8E89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DB070-9A02-EB29-6C0D-D21BA6D3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D9262-0D9D-D20B-4606-54FB6FA9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281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DAB1E-7775-0C75-628F-EDDADAF8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D326-F494-4C95-9EA8-178EA5FB7D7E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EC399-FE39-70A6-F8D9-A5805D80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F2750-D279-05EA-5287-7713369D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93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E094-B0F4-F14F-0DE6-DEF93CCB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6CF5-07DA-0DFC-7132-C1172C01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73077-ABC8-20CA-A62F-8EF4BA2A3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19B18-4747-AFBC-513E-8225E6A1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A2E1-2A96-4188-BF23-EC31F57E4BD6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4FCF3-F7CA-3405-D6DA-F498052F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77B9F-58F8-EC24-0350-CEC47BA0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289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826F-5F8E-D601-7EE0-A1DAE437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71390-8621-3101-440D-93D2674DD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6277D-921C-292C-3112-C00A192D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84583-0F49-4230-6218-288FB676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BB03-DBEB-4453-BFF4-2587C0150E06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0577C-6D40-868E-E466-2A92BAB4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0D1FE-D6B2-A6CA-E141-9E174E5C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22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0C26-9CD6-3832-B12C-1E07DEBD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FE95E-5500-718B-7599-CACD97230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A4D2D-3E45-2245-6AAD-E1A93D0B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92CEA-7370-4839-82AB-2A730E93B61A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7CA2D-61B9-7733-0D50-F12FBAF2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DB12-D44C-349A-5A12-07171333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0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D6430-4094-AB89-AEF8-54D3E4DA4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96F63-1C40-135C-F6A9-A1CCE4C22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81C1-F048-804C-F555-9C343D7B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04F-3C6B-48A3-BF28-B27BFF5765F4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84B2-6A97-788E-1BF4-14A13CA4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A1BC-773B-DFC1-B868-EDFCADB4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215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35E83-2894-18EF-D4CE-74C7708F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930E-A099-2B4B-5695-8B95F927C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BAB0-5D4E-7955-89FF-B523E8391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4D47C-7114-42B0-B0AE-2AE38778E8CC}" type="datetime1">
              <a:rPr lang="en-GB" smtClean="0"/>
              <a:t>08/06/2023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4199C-0E5D-AC78-E8EE-5A479676A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EB72A-75D0-C328-7AF6-2FA886A20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343AE-BF4A-428B-8443-38DEB2A0ED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14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21youlu@du.se" TargetMode="External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mailto:michael.schwarz@cispa.de" TargetMode="External"/><Relationship Id="rId4" Type="http://schemas.openxmlformats.org/officeDocument/2006/relationships/hyperlink" Target="mailto:ith@du.s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9.png"/><Relationship Id="rId7" Type="http://schemas.openxmlformats.org/officeDocument/2006/relationships/slide" Target="slide1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image" Target="../media/image2.svg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slide" Target="slide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2.xml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3.xml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kewhats.com/generator" TargetMode="External"/><Relationship Id="rId2" Type="http://schemas.openxmlformats.org/officeDocument/2006/relationships/hyperlink" Target="https://commons.wikimedia.org/wiki/Category:Web_developers#/media/File:Kama_it_01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eepstatic.com/images/news/u/1220909/devices/deprecated.jp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C188A-6F85-5CBC-1683-FFD61C70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GB" sz="31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SpySGX: Automatic Reversing of Secrets from Memory Traces in SGX-Enclaves</a:t>
            </a:r>
            <a:endParaRPr lang="en-GB" sz="310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7064DA-2E88-D050-9D85-6EF1ECE45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/>
              <a:t>Youheng L</a:t>
            </a:r>
            <a:r>
              <a:rPr lang="en-GB" sz="2000"/>
              <a:t>ü </a:t>
            </a:r>
            <a:r>
              <a:rPr lang="en-GB" sz="2000">
                <a:hlinkClick r:id="rId3"/>
              </a:rPr>
              <a:t>h21youlu@du.se</a:t>
            </a: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 u="sng"/>
              <a:t>Supervisors:</a:t>
            </a:r>
          </a:p>
          <a:p>
            <a:pPr marL="0" indent="0">
              <a:buNone/>
            </a:pPr>
            <a:r>
              <a:rPr lang="pt-BR" sz="2000"/>
              <a:t>Ilias Thomas (HDa) </a:t>
            </a:r>
            <a:r>
              <a:rPr lang="pt-BR" sz="2000">
                <a:hlinkClick r:id="rId4"/>
              </a:rPr>
              <a:t>ith@du.se</a:t>
            </a:r>
            <a:endParaRPr lang="pt-BR" sz="2000"/>
          </a:p>
          <a:p>
            <a:pPr marL="0" indent="0">
              <a:buNone/>
            </a:pPr>
            <a:r>
              <a:rPr lang="pt-BR" sz="2000"/>
              <a:t>Michael Schwarz (CISPA) </a:t>
            </a:r>
            <a:r>
              <a:rPr lang="pt-BR" sz="2000">
                <a:hlinkClick r:id="rId5"/>
              </a:rPr>
              <a:t>michael.schwarz@cispa.de</a:t>
            </a:r>
            <a:endParaRPr lang="pt-BR" sz="2000"/>
          </a:p>
          <a:p>
            <a:endParaRPr lang="pt-BR" sz="2000"/>
          </a:p>
          <a:p>
            <a:endParaRPr lang="pt-BR" sz="2000"/>
          </a:p>
          <a:p>
            <a:endParaRPr lang="pt-BR" sz="2000"/>
          </a:p>
          <a:p>
            <a:endParaRPr lang="pt-BR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1F6515-AB9E-F663-9388-FBEC65E91B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4502" y="489118"/>
            <a:ext cx="3756902" cy="5466007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8784B-2222-E12C-C880-942DB39E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GB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63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03AE3-FF38-4F01-4FC5-ECC27D328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dirty="0"/>
              <a:t>Reversing secret from memory traces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2023-03-30 16-05-53">
            <a:hlinkClick r:id="" action="ppaction://media"/>
            <a:extLst>
              <a:ext uri="{FF2B5EF4-FFF2-40B4-BE49-F238E27FC236}">
                <a16:creationId xmlns:a16="http://schemas.microsoft.com/office/drawing/2014/main" id="{19A34E27-BE8B-71EC-2119-7A0D04B2C480}"/>
              </a:ext>
            </a:extLst>
          </p:cNvPr>
          <p:cNvPicPr>
            <a:picLocks noGrp="1" noChangeAspect="1"/>
          </p:cNvPicPr>
          <p:nvPr>
            <p:ph sz="half" idx="2"/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64D1CF-2E5F-E6B5-CF79-1C50CDA7FA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6"/>
          <a:stretch>
            <a:fillRect/>
          </a:stretch>
        </p:blipFill>
        <p:spPr>
          <a:xfrm>
            <a:off x="6257544" y="3185624"/>
            <a:ext cx="5614416" cy="258589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13863-AE16-9FF3-47F6-710967EE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11CB8-48E4-E5FD-9485-69B675D42E57}"/>
              </a:ext>
            </a:extLst>
          </p:cNvPr>
          <p:cNvSpPr/>
          <p:nvPr/>
        </p:nvSpPr>
        <p:spPr>
          <a:xfrm>
            <a:off x="7955281" y="4340994"/>
            <a:ext cx="2336800" cy="626399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AC714F-D0FD-C410-8FEE-A2DF2F422413}"/>
              </a:ext>
            </a:extLst>
          </p:cNvPr>
          <p:cNvSpPr txBox="1"/>
          <p:nvPr/>
        </p:nvSpPr>
        <p:spPr>
          <a:xfrm>
            <a:off x="9285491" y="3845676"/>
            <a:ext cx="1533625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SECRET</a:t>
            </a:r>
            <a:endParaRPr lang="en-GB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AD8CF0-8CC0-BB7F-361E-7A6EE539AED6}"/>
              </a:ext>
            </a:extLst>
          </p:cNvPr>
          <p:cNvSpPr/>
          <p:nvPr/>
        </p:nvSpPr>
        <p:spPr>
          <a:xfrm>
            <a:off x="1553740" y="2129769"/>
            <a:ext cx="31470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Memory trace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7EE96-00A6-23C6-C582-FAB700CF8CBF}"/>
              </a:ext>
            </a:extLst>
          </p:cNvPr>
          <p:cNvSpPr/>
          <p:nvPr/>
        </p:nvSpPr>
        <p:spPr>
          <a:xfrm>
            <a:off x="6889477" y="2164897"/>
            <a:ext cx="43505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Square and multiply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7EEDF0-48B7-D992-0973-37FB6228C3A4}"/>
              </a:ext>
            </a:extLst>
          </p:cNvPr>
          <p:cNvSpPr/>
          <p:nvPr/>
        </p:nvSpPr>
        <p:spPr>
          <a:xfrm>
            <a:off x="8138160" y="5011438"/>
            <a:ext cx="2814320" cy="53022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7A2DA-B204-3656-6B8C-36C6207368FF}"/>
              </a:ext>
            </a:extLst>
          </p:cNvPr>
          <p:cNvSpPr txBox="1"/>
          <p:nvPr/>
        </p:nvSpPr>
        <p:spPr>
          <a:xfrm>
            <a:off x="8297939" y="5540683"/>
            <a:ext cx="2654541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MEMORY ACCESS</a:t>
            </a:r>
            <a:endParaRPr lang="en-GB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398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3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39BBD-D83F-853A-9B33-7BB76497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latin typeface="+mj-lt"/>
                <a:ea typeface="+mj-ea"/>
                <a:cs typeface="+mj-cs"/>
              </a:rPr>
              <a:t>Intel – Software Guard Extension (SGX)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941820-1858-8CCD-9DB6-7D6014E9B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i="1" kern="1200" dirty="0">
                <a:latin typeface="+mn-lt"/>
                <a:ea typeface="+mn-ea"/>
                <a:cs typeface="+mn-cs"/>
              </a:rPr>
              <a:t>SGX-Library = </a:t>
            </a:r>
            <a:r>
              <a:rPr lang="en-US" kern="1200" dirty="0">
                <a:latin typeface="+mn-lt"/>
                <a:ea typeface="+mn-ea"/>
                <a:cs typeface="+mn-cs"/>
              </a:rPr>
              <a:t>Library code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i.e</a:t>
            </a:r>
            <a:r>
              <a:rPr lang="en-US" kern="1200" dirty="0">
                <a:latin typeface="+mn-lt"/>
                <a:ea typeface="+mn-ea"/>
                <a:cs typeface="+mn-cs"/>
              </a:rPr>
              <a:t> used of secure cloud computing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SGX: A</a:t>
            </a:r>
            <a:r>
              <a:rPr lang="en-US" kern="1200" dirty="0">
                <a:latin typeface="+mn-lt"/>
                <a:ea typeface="+mn-ea"/>
                <a:cs typeface="+mn-cs"/>
              </a:rPr>
              <a:t>ssume attacker has access to memory accesses [2]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22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20BD2-B528-5D26-BD41-B0CE5876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FB6E1-0C44-CF73-9D8D-F5CFFF17AB66}"/>
              </a:ext>
            </a:extLst>
          </p:cNvPr>
          <p:cNvSpPr txBox="1"/>
          <p:nvPr/>
        </p:nvSpPr>
        <p:spPr>
          <a:xfrm>
            <a:off x="966951" y="3355130"/>
            <a:ext cx="2669407" cy="2427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2E2C6-F948-E971-B4F9-319284942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102" y="2372868"/>
            <a:ext cx="5468112" cy="2023201"/>
          </a:xfrm>
          <a:prstGeom prst="rect">
            <a:avLst/>
          </a:prstGeom>
        </p:spPr>
      </p:pic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BFD5547A-F6AE-DC4D-A051-DF59F531C8D8}"/>
              </a:ext>
            </a:extLst>
          </p:cNvPr>
          <p:cNvSpPr txBox="1">
            <a:spLocks/>
          </p:cNvSpPr>
          <p:nvPr/>
        </p:nvSpPr>
        <p:spPr>
          <a:xfrm>
            <a:off x="6093102" y="4393782"/>
            <a:ext cx="5468112" cy="704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Vulnerable Code in Libgcrypt, a major cryptographic library [1]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85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CEF13-D1A9-6BCD-630F-C5AE930E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Main idea</a:t>
            </a:r>
          </a:p>
        </p:txBody>
      </p:sp>
      <p:pic>
        <p:nvPicPr>
          <p:cNvPr id="7" name="Content Placeholder 6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2986D20D-E9B0-6A61-CA31-B4EEEE0A3B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317" y="736370"/>
            <a:ext cx="2975213" cy="53850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201B4-F025-C858-4D7C-AA1358B2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4671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703A84-58AE-173C-FDF8-D24B4A091611}"/>
              </a:ext>
            </a:extLst>
          </p:cNvPr>
          <p:cNvSpPr/>
          <p:nvPr/>
        </p:nvSpPr>
        <p:spPr>
          <a:xfrm>
            <a:off x="8036560" y="436880"/>
            <a:ext cx="3698237" cy="585216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29783-D674-6490-04BC-297B67EA165D}"/>
              </a:ext>
            </a:extLst>
          </p:cNvPr>
          <p:cNvSpPr txBox="1"/>
          <p:nvPr/>
        </p:nvSpPr>
        <p:spPr>
          <a:xfrm flipH="1">
            <a:off x="4978400" y="4690211"/>
            <a:ext cx="2720258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Correlation Approaches.</a:t>
            </a:r>
          </a:p>
          <a:p>
            <a:pPr algn="ctr"/>
            <a:r>
              <a:rPr lang="en-US" sz="2800" b="1" dirty="0"/>
              <a:t>Not our work</a:t>
            </a:r>
            <a:r>
              <a:rPr lang="en-GB" sz="2800" b="1" dirty="0"/>
              <a:t>.</a:t>
            </a:r>
          </a:p>
        </p:txBody>
      </p:sp>
      <p:pic>
        <p:nvPicPr>
          <p:cNvPr id="8" name="Content Placeholder 7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0AE204E4-C74D-9D76-864D-BF0C7181B1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795" y="736369"/>
            <a:ext cx="2970140" cy="5378157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16EBA64-C765-A5F2-997C-B5931892DDDA}"/>
              </a:ext>
            </a:extLst>
          </p:cNvPr>
          <p:cNvSpPr txBox="1"/>
          <p:nvPr/>
        </p:nvSpPr>
        <p:spPr>
          <a:xfrm flipH="1">
            <a:off x="8780323" y="4690210"/>
            <a:ext cx="2210710" cy="13849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Break-In</a:t>
            </a:r>
          </a:p>
          <a:p>
            <a:pPr algn="ctr"/>
            <a:r>
              <a:rPr lang="en-US" sz="2800" b="1" dirty="0"/>
              <a:t>Approach</a:t>
            </a:r>
          </a:p>
          <a:p>
            <a:pPr algn="ctr"/>
            <a:r>
              <a:rPr lang="en-US" sz="2800" b="1" dirty="0"/>
              <a:t>We do this.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08062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AC970-BB1C-4930-EF33-D23357CA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Our contribution</a:t>
            </a:r>
            <a:endParaRPr lang="en-GB" sz="5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6A76-D92D-0497-8B25-6F0B680DD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70048"/>
            <a:ext cx="4818888" cy="3547872"/>
          </a:xfrm>
        </p:spPr>
        <p:txBody>
          <a:bodyPr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200" dirty="0"/>
              <a:t>Emulation-based Data Collection</a:t>
            </a:r>
          </a:p>
          <a:p>
            <a:pPr marL="514350" indent="-514350">
              <a:buAutoNum type="arabicPeriod"/>
            </a:pPr>
            <a:r>
              <a:rPr lang="en-US" sz="2200" b="1" dirty="0"/>
              <a:t>Novel Method</a:t>
            </a:r>
            <a:r>
              <a:rPr lang="en-US" sz="2200" dirty="0"/>
              <a:t> </a:t>
            </a:r>
            <a:r>
              <a:rPr lang="en-US" sz="2200" b="1" dirty="0"/>
              <a:t>for reversing secrets</a:t>
            </a:r>
            <a:r>
              <a:rPr lang="en-US" sz="2200" dirty="0"/>
              <a:t>: Combining Symbolic Execution with Data Analysis</a:t>
            </a:r>
          </a:p>
          <a:p>
            <a:pPr marL="514350" indent="-514350">
              <a:buAutoNum type="arabicPeriod"/>
            </a:pPr>
            <a:r>
              <a:rPr lang="en-GB" sz="2200" dirty="0"/>
              <a:t>Strategies for Missing Data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CB3CF9-8121-1F38-E7AD-ADAA3E4E7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648" y="640080"/>
            <a:ext cx="3833768" cy="55778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9DA0B-8DA1-25F1-E878-1B1BDC4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450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FF7A-F68F-B603-96E4-A4AC961EF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8392B-92E2-BC31-5048-1C695B24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6</a:t>
            </a:fld>
            <a:endParaRPr lang="en-GB" dirty="0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6" name="Summary Zoom 5">
                <a:extLst>
                  <a:ext uri="{FF2B5EF4-FFF2-40B4-BE49-F238E27FC236}">
                    <a16:creationId xmlns:a16="http://schemas.microsoft.com/office/drawing/2014/main" id="{1BD78303-0B43-306B-EDCD-CED991DDFE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9862422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06DE636D-DF44-4F82-91E4-BB2FABC496E8}" offsetFactorX="42807">
                    <psuz:zmPr id="{321D537A-5F58-4EFA-B4CF-DB09A516DEA5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01602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B114115-D75D-4DA2-937E-458043120D6C}" offsetFactorX="42807">
                    <psuz:zmPr id="{08CDD923-29C4-43E3-B4A6-891E86BBCA65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813212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4C86A25-CAE2-4114-8AE4-032782D20A36}" offsetFactorX="42807">
                    <psuz:zmPr id="{0C748D66-2D07-438F-BD12-494F70D974A7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01602" y="2240939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1030F0A-94CC-4FFB-94E2-F31A03A1FDE4}" offsetFactorX="42807">
                    <psuz:zmPr id="{DD4EF34A-D804-40B0-8CB5-FCF13AFFA109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813212" y="2240939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6" name="Summary Zoom 5">
                <a:extLst>
                  <a:ext uri="{FF2B5EF4-FFF2-40B4-BE49-F238E27FC236}">
                    <a16:creationId xmlns:a16="http://schemas.microsoft.com/office/drawing/2014/main" id="{1BD78303-0B43-306B-EDCD-CED991DDFEB0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3" name="Picture 3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039802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5" name="Picture 5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1412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039802" y="4066564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Picture 8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51412" y="4066564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196F3F4B-20FA-788F-3DA6-3B0629A0D9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4468" y="1955799"/>
            <a:ext cx="2470666" cy="359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0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F3BE7-6EEC-8015-CF4F-DA854085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FAE2514D-46A6-EECC-7808-E9EA1FB8B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0C4640-B4DE-9BA1-6537-A645D692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4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43F7-ACF1-F7C9-1F09-DCD59CFE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Collection: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16611-7867-118C-73DB-5DA9B41DD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A) Collecting data requires special CPU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E7DE6-A549-573F-95E9-44DE9FD64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950682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B) Collection on Real hardware:</a:t>
            </a:r>
          </a:p>
          <a:p>
            <a:r>
              <a:rPr lang="en-GB" dirty="0"/>
              <a:t>Noise or other limitations [2]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FDE74A9-B2C9-06D0-4915-A39FFB81256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650305"/>
            <a:ext cx="5183188" cy="139412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2C7D8-6E98-A36E-2E40-48D47E0C0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8</a:t>
            </a:fld>
            <a:endParaRPr lang="en-GB" dirty="0"/>
          </a:p>
        </p:txBody>
      </p:sp>
      <p:pic>
        <p:nvPicPr>
          <p:cNvPr id="14" name="Content Placeholder 1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3CE9E38-D56A-0CCA-3816-DBBBB67FD5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73178"/>
            <a:ext cx="5157787" cy="3548382"/>
          </a:xfrm>
        </p:spPr>
      </p:pic>
    </p:spTree>
    <p:extLst>
      <p:ext uri="{BB962C8B-B14F-4D97-AF65-F5344CB8AC3E}">
        <p14:creationId xmlns:p14="http://schemas.microsoft.com/office/powerpoint/2010/main" val="39582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F5FD1-B3A9-D835-09AA-BAD39B1F2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dirty="0"/>
              <a:t>Emulation-based Data Collection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20AAA-E06B-4728-10F1-46ED86A7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SGX-Emulator</a:t>
            </a:r>
            <a:r>
              <a:rPr lang="en-US" sz="2200" dirty="0"/>
              <a:t> [3]: Software that simulates SGX – environment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Collect accesses in most SGX libraries without specialized hardware</a:t>
            </a:r>
          </a:p>
          <a:p>
            <a:r>
              <a:rPr lang="en-US" sz="2200" dirty="0"/>
              <a:t>Accurate data without noise or missing values</a:t>
            </a:r>
          </a:p>
          <a:p>
            <a:r>
              <a:rPr lang="en-US" sz="2200" dirty="0"/>
              <a:t>Requirement for symbolic execution</a:t>
            </a:r>
          </a:p>
          <a:p>
            <a:endParaRPr lang="en-US" sz="2200" dirty="0"/>
          </a:p>
          <a:p>
            <a:endParaRPr lang="en-GB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B04FE-BD49-80E7-7B57-3272574D7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327" y="640080"/>
            <a:ext cx="1910410" cy="55778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1176-28EC-344E-BD47-9C1CFA49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92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4447E-9914-BFF9-6865-2DF0F5B09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Data Description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ED9349-EAFF-EDE5-7713-4D0EEFA4D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81144" y="510047"/>
            <a:ext cx="68580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Target</a:t>
            </a:r>
            <a:r>
              <a:rPr lang="en-US" sz="1800" dirty="0"/>
              <a:t>: </a:t>
            </a:r>
            <a:r>
              <a:rPr lang="en-US" sz="1800" b="0" dirty="0"/>
              <a:t>secret key: integer</a:t>
            </a:r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Features</a:t>
            </a:r>
            <a:r>
              <a:rPr lang="en-US" sz="1800" b="0" dirty="0"/>
              <a:t>: Memory-accesses: integer</a:t>
            </a:r>
          </a:p>
          <a:p>
            <a:pPr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b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99DCEC-EFC7-A915-103D-F38B9C8F9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84" y="3080491"/>
            <a:ext cx="3584448" cy="2691254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5F3706F-EA4D-40F9-B0DD-60EA107E1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599" y="3600654"/>
            <a:ext cx="3584448" cy="1650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D0EABE-7446-4DD5-453E-0B0BB1B0B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415" y="3942218"/>
            <a:ext cx="3584448" cy="9678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46B6E-39DA-196E-9161-07950970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82854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9B1EE-FB4D-263A-7866-5559AE286A7F}"/>
              </a:ext>
            </a:extLst>
          </p:cNvPr>
          <p:cNvSpPr txBox="1"/>
          <p:nvPr/>
        </p:nvSpPr>
        <p:spPr>
          <a:xfrm>
            <a:off x="618425" y="2599364"/>
            <a:ext cx="358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Visualization with tiny secret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87060-1DA3-3BD5-1A01-CA1D5A6A08DC}"/>
              </a:ext>
            </a:extLst>
          </p:cNvPr>
          <p:cNvSpPr txBox="1"/>
          <p:nvPr/>
        </p:nvSpPr>
        <p:spPr>
          <a:xfrm>
            <a:off x="4404681" y="2629207"/>
            <a:ext cx="358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Target SGX Library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72ECE-28C0-5AB4-6CB7-65312B769CC5}"/>
              </a:ext>
            </a:extLst>
          </p:cNvPr>
          <p:cNvSpPr txBox="1"/>
          <p:nvPr/>
        </p:nvSpPr>
        <p:spPr>
          <a:xfrm>
            <a:off x="8190937" y="2659050"/>
            <a:ext cx="358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First five memory traces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428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37D0E-5800-1AB3-F5D3-2EF661B7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Methodology:</a:t>
            </a:r>
            <a:b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Automatic Reversing Secrets from Memory Traces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7" descr="PC">
            <a:extLst>
              <a:ext uri="{FF2B5EF4-FFF2-40B4-BE49-F238E27FC236}">
                <a16:creationId xmlns:a16="http://schemas.microsoft.com/office/drawing/2014/main" id="{BB2EAB68-362E-E8BB-149D-60FC9CBCF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A4380-7714-22FF-5E81-C06A933D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77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3B102-7D18-E120-8EA0-37E0C797F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Symbolic execution</a:t>
            </a:r>
            <a:endParaRPr lang="en-GB" sz="5400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88A5F-C74D-F243-A630-918007C7A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Run program with secret as symbolic variable</a:t>
            </a:r>
          </a:p>
          <a:p>
            <a:r>
              <a:rPr lang="en-GB" sz="2200" dirty="0"/>
              <a:t>Secret dependent If-condition: Create 2 states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951C6-5526-D844-D077-345F49535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4296" y="2050653"/>
            <a:ext cx="6903720" cy="27566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E3507-4B5B-8B43-AFEE-E439F324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E97365-B7D7-841E-8E01-9643DEAFAEC3}"/>
              </a:ext>
            </a:extLst>
          </p:cNvPr>
          <p:cNvSpPr/>
          <p:nvPr/>
        </p:nvSpPr>
        <p:spPr>
          <a:xfrm>
            <a:off x="8085221" y="3686475"/>
            <a:ext cx="3051208" cy="97759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Information Gain</a:t>
            </a:r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529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F0445-5C09-DFA0-28E5-58AC0BF1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Why symbolic execution?</a:t>
            </a:r>
            <a:endParaRPr lang="en-GB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68D49B-5D3F-7A01-BD4E-0D93860C2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dirty="0"/>
              <a:t>One of final states will contain 100% accurate solution</a:t>
            </a:r>
          </a:p>
          <a:p>
            <a:r>
              <a:rPr lang="en-US" dirty="0"/>
              <a:t>Generalizes to any code it can emulate</a:t>
            </a:r>
          </a:p>
          <a:p>
            <a:r>
              <a:rPr lang="en-US" dirty="0"/>
              <a:t>No training required, can revert secret with one trace + enclave library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3FD2-1DAE-3A3A-4980-735F1FEA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274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11B07-3D2F-0CC5-D954-055A217DB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 dirty="0"/>
              <a:t>Challenge: Path Explosion</a:t>
            </a:r>
            <a:endParaRPr lang="en-GB" sz="40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131C7E1-D58A-36E1-E488-4AA6B98A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916" y="457200"/>
            <a:ext cx="8017130" cy="345532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3313EC-D404-0380-8DC7-FF184E12A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en-US" sz="2000" dirty="0"/>
              <a:t>Number of possible paths grows exponentially</a:t>
            </a:r>
          </a:p>
          <a:p>
            <a:r>
              <a:rPr lang="en-US" sz="2000" dirty="0"/>
              <a:t>4 If-Conditions = 16 paths</a:t>
            </a:r>
          </a:p>
          <a:p>
            <a:r>
              <a:rPr lang="en-US" sz="2000" dirty="0"/>
              <a:t>1024 If-Conditions &gt; 10^308 paths</a:t>
            </a:r>
          </a:p>
          <a:p>
            <a:endParaRPr lang="en-GB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C8961-CEB0-AC6B-26AF-9AC1C201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187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GB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62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ymbolic_execution">
            <a:hlinkClick r:id="" action="ppaction://media"/>
            <a:extLst>
              <a:ext uri="{FF2B5EF4-FFF2-40B4-BE49-F238E27FC236}">
                <a16:creationId xmlns:a16="http://schemas.microsoft.com/office/drawing/2014/main" id="{748A4F0A-9D26-FD3A-D349-64DF14BE44D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84153" y="643468"/>
            <a:ext cx="7958666" cy="5571066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140B4-AA43-AD20-E7E8-735608C1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53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731B3-6DF3-26A0-76E0-9D9390FD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Novel approach:</a:t>
            </a:r>
            <a:br>
              <a:rPr lang="en-US" sz="3800" b="1" dirty="0"/>
            </a:br>
            <a:r>
              <a:rPr lang="en-US" sz="3800" dirty="0"/>
              <a:t>Data-Dependent Path Trimming</a:t>
            </a:r>
            <a:endParaRPr lang="en-GB" sz="38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A3D87-B773-28DC-7C9B-6D7DCBC5E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Discard all paths that do not match trace</a:t>
            </a:r>
          </a:p>
          <a:p>
            <a:r>
              <a:rPr lang="en-US" sz="2200" dirty="0"/>
              <a:t>At the end: Calculate secret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F59E68-25FE-214A-5214-ADFA53DC7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5183" y="640080"/>
            <a:ext cx="5701945" cy="55778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2F311-62A9-C1B9-7A0F-48EE983C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734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308CF-110C-795E-32DD-005F58FA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Dealing with Missing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3D black question marks with one yellow question mark">
            <a:extLst>
              <a:ext uri="{FF2B5EF4-FFF2-40B4-BE49-F238E27FC236}">
                <a16:creationId xmlns:a16="http://schemas.microsoft.com/office/drawing/2014/main" id="{96A768AC-E904-7F7B-51DE-686476DA74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57" r="27789" b="1"/>
          <a:stretch/>
        </p:blipFill>
        <p:spPr>
          <a:xfrm>
            <a:off x="7515763" y="463404"/>
            <a:ext cx="3279309" cy="555319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CEB3B-C92C-E02C-EEF7-A164535E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84343AE-BF4A-428B-8443-38DEB2A0EDBE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17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470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EA211-4913-1661-807E-7488567F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Motivation: Missing data [4]</a:t>
            </a:r>
          </a:p>
        </p:txBody>
      </p:sp>
      <p:pic>
        <p:nvPicPr>
          <p:cNvPr id="6" name="Content Placeholder 5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EC36E99E-C657-41B5-4AB7-2534A6DFA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586" y="578738"/>
            <a:ext cx="3132978" cy="56705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8D9A3-FC77-7AC6-E1AF-24161121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z="1000"/>
              <a:pPr>
                <a:spcAft>
                  <a:spcPts val="600"/>
                </a:spcAft>
              </a:pPr>
              <a:t>18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648331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ymbolic_execution">
            <a:hlinkClick r:id="" action="ppaction://media"/>
            <a:extLst>
              <a:ext uri="{FF2B5EF4-FFF2-40B4-BE49-F238E27FC236}">
                <a16:creationId xmlns:a16="http://schemas.microsoft.com/office/drawing/2014/main" id="{748A4F0A-9D26-FD3A-D349-64DF14BE44D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84153" y="643468"/>
            <a:ext cx="7958666" cy="5571066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140B4-AA43-AD20-E7E8-735608C1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4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19FE5-105E-E98B-675E-F7E05E98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 b="1"/>
              <a:t>Instruction Access enclave</a:t>
            </a:r>
            <a:br>
              <a:rPr lang="en-US" sz="2600" b="1"/>
            </a:br>
            <a:r>
              <a:rPr lang="en-US" sz="2600"/>
              <a:t>Missing Instruction Heuristic</a:t>
            </a:r>
            <a:endParaRPr lang="en-GB" sz="260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2B2CA-10A6-2C06-BDC5-E88ED766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Trace contains redundant information.</a:t>
            </a:r>
          </a:p>
          <a:p>
            <a:r>
              <a:rPr lang="en-US" sz="2200" dirty="0"/>
              <a:t>Check which path least missing instructions</a:t>
            </a:r>
          </a:p>
          <a:p>
            <a:r>
              <a:rPr lang="en-US" sz="2200" dirty="0"/>
              <a:t>Discard all other paths</a:t>
            </a:r>
            <a:endParaRPr lang="en-GB" sz="2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A02D5F-49FD-CAF8-36AF-838B491E5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6457" y="640080"/>
            <a:ext cx="5299397" cy="55778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0F24-DA5E-C280-F0F9-D8ABE517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20</a:t>
            </a:fld>
            <a:endParaRPr lang="en-GB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F76D9A2D-BC43-020F-80D6-96EFF2A5C816}"/>
              </a:ext>
            </a:extLst>
          </p:cNvPr>
          <p:cNvSpPr/>
          <p:nvPr/>
        </p:nvSpPr>
        <p:spPr>
          <a:xfrm>
            <a:off x="8396226" y="4057624"/>
            <a:ext cx="1056640" cy="90988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690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A0FD6-E845-2771-068A-960BF5624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+ Discussion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Shape&#10;&#10;Description automatically generated with low confidence">
            <a:extLst>
              <a:ext uri="{FF2B5EF4-FFF2-40B4-BE49-F238E27FC236}">
                <a16:creationId xmlns:a16="http://schemas.microsoft.com/office/drawing/2014/main" id="{C6BF8B0E-2613-EB1B-B21E-EE7205163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96ED9-4DA9-52BC-F5B8-48251A7E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918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2DD01-406E-C5CF-8279-B4A4888D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Reversing Secret from full trace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C989F-07BC-1A2B-7CAC-3E69E24EE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dirty="0"/>
              <a:t>1000/1000 secrets reversed correctly</a:t>
            </a:r>
          </a:p>
          <a:p>
            <a:endParaRPr lang="en-US" dirty="0"/>
          </a:p>
          <a:p>
            <a:r>
              <a:rPr lang="en-GB" dirty="0"/>
              <a:t>Other approaches: exponential time</a:t>
            </a:r>
          </a:p>
          <a:p>
            <a:r>
              <a:rPr lang="en-GB" dirty="0" err="1"/>
              <a:t>SpySGX</a:t>
            </a:r>
            <a:r>
              <a:rPr lang="en-GB" dirty="0"/>
              <a:t>: linear time</a:t>
            </a:r>
          </a:p>
        </p:txBody>
      </p:sp>
      <p:pic>
        <p:nvPicPr>
          <p:cNvPr id="5" name="Content Placeholder 13">
            <a:extLst>
              <a:ext uri="{FF2B5EF4-FFF2-40B4-BE49-F238E27FC236}">
                <a16:creationId xmlns:a16="http://schemas.microsoft.com/office/drawing/2014/main" id="{F2EAC45A-5A02-1DFC-F6F0-B5194846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1518361"/>
            <a:ext cx="5458968" cy="38212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7FAB-6F0E-D12D-3CE8-4A45EA55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05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8D881-2B8B-21D4-60A0-63AE9C624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Missing Data</a:t>
            </a:r>
            <a:endParaRPr lang="en-GB" sz="4600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A9C6-38ED-C22B-1C23-C90106E7A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25% Missing data: </a:t>
            </a:r>
          </a:p>
          <a:p>
            <a:pPr lvl="1"/>
            <a:r>
              <a:rPr lang="en-US" sz="2200" dirty="0"/>
              <a:t>98% Secrets reversed correctly</a:t>
            </a:r>
          </a:p>
          <a:p>
            <a:pPr marL="457200" lvl="1" indent="0">
              <a:buNone/>
            </a:pPr>
            <a:endParaRPr lang="en-US" sz="2200" dirty="0"/>
          </a:p>
          <a:p>
            <a:r>
              <a:rPr lang="en-US" sz="2200" dirty="0"/>
              <a:t>70% Missing data:</a:t>
            </a:r>
          </a:p>
          <a:p>
            <a:pPr lvl="1"/>
            <a:r>
              <a:rPr lang="en-US" sz="2200" dirty="0"/>
              <a:t>&lt;1% Secrets reversed correctly</a:t>
            </a:r>
          </a:p>
          <a:p>
            <a:pPr lvl="1"/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GB" sz="22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C51326-21DD-A665-E0FC-BB597FB32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1518361"/>
            <a:ext cx="5458968" cy="38212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DF3DC-6DDE-E1F8-01C4-E2B5BAD3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82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374FD-4C8B-0614-54CF-ED6A2C75E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Skipped in presentation</a:t>
            </a:r>
            <a:endParaRPr lang="en-GB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D91B-18C3-447D-76E0-A5F8982D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Reversing secret in Data Access attack</a:t>
            </a:r>
          </a:p>
          <a:p>
            <a:r>
              <a:rPr lang="en-US" sz="2200"/>
              <a:t>Dealing with missing data in Data Access attack</a:t>
            </a:r>
          </a:p>
          <a:p>
            <a:endParaRPr lang="en-GB" sz="22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DA5407-3091-F636-809B-C441E4BAA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648" y="640080"/>
            <a:ext cx="3833768" cy="55778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453D-603A-FB54-1D06-432D83A6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F045BA-4DC8-19D3-485A-BD14C57A76CD}"/>
              </a:ext>
            </a:extLst>
          </p:cNvPr>
          <p:cNvSpPr/>
          <p:nvPr/>
        </p:nvSpPr>
        <p:spPr>
          <a:xfrm>
            <a:off x="7748337" y="3429000"/>
            <a:ext cx="2204185" cy="210552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FFC000"/>
                </a:solidFill>
              </a:rPr>
              <a:t>Skipped</a:t>
            </a:r>
            <a:endParaRPr lang="en-GB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149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3792-31A6-9D62-174A-E1EF750B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783DE-67D9-3386-149E-C0806045A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Experimental limitation (possible)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84EE0034-87A3-B98A-8D30-81DB33D8A4E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57671728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EBF6D-BBF7-F261-5F79-7FA913697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Design limitation (very hard)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1C4F7-890B-A0ED-ABE9-6A5046D0B82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Analysis very hard on Hardware-based functions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50034-865C-2B89-99B8-C520C111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3849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372B-D4A8-E51B-DC4E-C82AE0CA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</a:t>
            </a:r>
            <a:endParaRPr lang="en-GB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3D9E767-F64C-1C41-50E2-DDAC098DB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664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B547-FA32-A878-B152-9B55AF36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2096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73035C9-93C9-4A1C-B191-8129054E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3A143-E265-5E72-AB88-EB284313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695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5" name="Picture 4" descr="A screenshot of a phone&#10;&#10;Description automatically generated with medium confidence">
            <a:extLst>
              <a:ext uri="{FF2B5EF4-FFF2-40B4-BE49-F238E27FC236}">
                <a16:creationId xmlns:a16="http://schemas.microsoft.com/office/drawing/2014/main" id="{2A98CD7C-4058-33B5-EB53-7EF4BEE9B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324" y="643467"/>
            <a:ext cx="3078014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B0A77-0502-0EFE-1C70-8A1755C6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76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6DAC-AB15-DD03-C78A-0206F0D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E118-F3A9-6CB2-BAF2-3DAF5B710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[1] Wang, </a:t>
            </a:r>
            <a:r>
              <a:rPr lang="en-GB" dirty="0" err="1"/>
              <a:t>Wenhao</a:t>
            </a:r>
            <a:r>
              <a:rPr lang="en-GB" dirty="0"/>
              <a:t>, et al. "Leaky cauldron on the dark land: Understanding memory side-channel hazards in SGX." Proceedings of the 2017 ACM SIGSAC Conference on Computer and Communications Security. 2017.</a:t>
            </a:r>
          </a:p>
          <a:p>
            <a:pPr marL="0" indent="0">
              <a:buNone/>
            </a:pPr>
            <a:r>
              <a:rPr lang="en-US" dirty="0"/>
              <a:t>[2] </a:t>
            </a:r>
            <a:r>
              <a:rPr lang="en-GB" dirty="0" err="1"/>
              <a:t>Moghimi</a:t>
            </a:r>
            <a:r>
              <a:rPr lang="en-GB" dirty="0"/>
              <a:t>, Daniel, et al. "</a:t>
            </a:r>
            <a:r>
              <a:rPr lang="en-GB" dirty="0" err="1"/>
              <a:t>CopyCat</a:t>
            </a:r>
            <a:r>
              <a:rPr lang="en-GB" dirty="0"/>
              <a:t>: Controlled instruction-level attacks on enclaves." </a:t>
            </a:r>
            <a:r>
              <a:rPr lang="en-GB" i="1" dirty="0"/>
              <a:t>Proceedings of the 29th USENIX Conference on Security Symposium</a:t>
            </a:r>
            <a:r>
              <a:rPr lang="en-GB" dirty="0"/>
              <a:t>. 2020.</a:t>
            </a:r>
          </a:p>
          <a:p>
            <a:pPr marL="0" indent="0">
              <a:buNone/>
            </a:pPr>
            <a:r>
              <a:rPr lang="en-GB" dirty="0"/>
              <a:t>[3] Antonino, Pedro, Wojciech Aleksander Woloszyn, and A. W. Roscoe. "Guardian: Symbolic validation of orderliness in SGX enclaves." </a:t>
            </a:r>
            <a:r>
              <a:rPr lang="en-GB" i="1" dirty="0"/>
              <a:t>Proceedings of the 2021 on Cloud Computing Security Workshop</a:t>
            </a:r>
            <a:r>
              <a:rPr lang="en-GB" dirty="0"/>
              <a:t>. 2021.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266B6-71B6-D28E-266F-0472EBBC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885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6DAC-AB15-DD03-C78A-0206F0D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E118-F3A9-6CB2-BAF2-3DAF5B710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[4] Asynchronous Enclave Exit Notify and the EDECCSSA User Leaf Function [White Paper], 2022, https://cdrdv2-public.intel.com/736463/aex-notify-white-paper-public.pdf [accessed: 24.04.2023]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[5] </a:t>
            </a:r>
            <a:r>
              <a:rPr lang="en-GB" dirty="0"/>
              <a:t>L. Hu, F. Zhang, Z. Liang, R. Ding, X. Cai, Z. Wang, and W. Jin, “Faultmorse: An automated controlled-channel attack via longest recurring sequence,” Computers &amp; Security, vol. 124, p. 103003, 2023.</a:t>
            </a:r>
          </a:p>
          <a:p>
            <a:pPr marL="0" indent="0">
              <a:buNone/>
            </a:pPr>
            <a:r>
              <a:rPr lang="en-GB" dirty="0"/>
              <a:t>[6] E. P. </a:t>
            </a:r>
            <a:r>
              <a:rPr lang="en-GB" dirty="0" err="1"/>
              <a:t>Caillault</a:t>
            </a:r>
            <a:r>
              <a:rPr lang="en-GB" dirty="0"/>
              <a:t>, A. Lefebvre, A. </a:t>
            </a:r>
            <a:r>
              <a:rPr lang="en-GB" dirty="0" err="1"/>
              <a:t>Bigand</a:t>
            </a:r>
            <a:r>
              <a:rPr lang="en-GB" dirty="0"/>
              <a:t> et al., “Dynamic time warping-based imputation for univariate time series data,” Pattern Recognition Letters, vol.139, pp. 139–147, 2020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266B6-71B6-D28E-266F-0472EBBC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9589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BAC8-80C1-1CE0-4E31-A8A22DB3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Image Sources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A2F66-1928-05FA-7F09-769DA9FD5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Fake </a:t>
            </a:r>
            <a:r>
              <a:rPr lang="en-GB" dirty="0" err="1"/>
              <a:t>Whatsapp</a:t>
            </a:r>
            <a:r>
              <a:rPr lang="en-GB" dirty="0"/>
              <a:t> Messages: </a:t>
            </a:r>
            <a:r>
              <a:rPr lang="en-GB" dirty="0">
                <a:hlinkClick r:id="rId2"/>
              </a:rPr>
              <a:t>https://commons.wikimedia.org/wiki/Category:Web_developers#/media/File:Kama_it_01.png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>
                <a:hlinkClick r:id="rId3"/>
              </a:rPr>
              <a:t>https://www.fakewhats.com/generator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SGX Deprecated on specific CPUs:</a:t>
            </a:r>
          </a:p>
          <a:p>
            <a:pPr marL="0" indent="0">
              <a:buNone/>
            </a:pPr>
            <a:r>
              <a:rPr lang="en-GB" dirty="0">
                <a:hlinkClick r:id="rId4"/>
              </a:rPr>
              <a:t>https://www.bleepstatic.com/images/news/u/1220909/devices/deprecated.jpg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D29D3-9E5C-040E-567C-257129D1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734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1583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9E544-88F1-96D9-4C9A-78433640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9419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D7598-65F8-091C-2F2C-C0C266D3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7593"/>
            <a:ext cx="4467792" cy="306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Backup slides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CA98AE00-2339-286E-8F3B-AAAB02852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3623" y="1374798"/>
            <a:ext cx="4108404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0402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50E54-5787-42AA-3D15-BE64086C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07019"/>
          </a:xfrm>
        </p:spPr>
        <p:txBody>
          <a:bodyPr anchor="b">
            <a:normAutofit/>
          </a:bodyPr>
          <a:lstStyle/>
          <a:p>
            <a:r>
              <a:rPr lang="en-GB" sz="4000" dirty="0"/>
              <a:t>Memory-Access Side-Channel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28C3-520C-18F5-6173-4BFC2837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837" y="1345925"/>
            <a:ext cx="9688296" cy="1669447"/>
          </a:xfrm>
        </p:spPr>
        <p:txBody>
          <a:bodyPr anchor="t">
            <a:normAutofit/>
          </a:bodyPr>
          <a:lstStyle/>
          <a:p>
            <a:r>
              <a:rPr lang="en-US" sz="3200" dirty="0"/>
              <a:t>“</a:t>
            </a:r>
            <a:r>
              <a:rPr lang="en-GB" sz="3200" dirty="0"/>
              <a:t>… Intel® SGX is </a:t>
            </a:r>
            <a:r>
              <a:rPr lang="en-GB" sz="3200" b="1" dirty="0"/>
              <a:t>not specifically designed to protect against side-channel attacks</a:t>
            </a:r>
            <a:r>
              <a:rPr lang="en-GB" sz="3200" dirty="0"/>
              <a:t>, ...</a:t>
            </a:r>
            <a:r>
              <a:rPr lang="en-US" sz="3200" dirty="0"/>
              <a:t>” </a:t>
            </a:r>
          </a:p>
          <a:p>
            <a:r>
              <a:rPr lang="en-US" sz="3200" dirty="0"/>
              <a:t>Data </a:t>
            </a:r>
            <a:r>
              <a:rPr lang="en-US" sz="3200" b="1" dirty="0"/>
              <a:t>Inference</a:t>
            </a:r>
            <a:r>
              <a:rPr lang="en-US" sz="3200" dirty="0"/>
              <a:t> to steal secrets</a:t>
            </a:r>
          </a:p>
          <a:p>
            <a:endParaRPr lang="en-US" sz="3200" dirty="0"/>
          </a:p>
          <a:p>
            <a:endParaRPr lang="en-GB" sz="3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463E8-DCED-AAA9-5B38-408754CD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GB" sz="1100" dirty="0">
              <a:solidFill>
                <a:srgbClr val="FFFFFF"/>
              </a:solidFill>
            </a:endParaRPr>
          </a:p>
        </p:txBody>
      </p:sp>
      <p:pic>
        <p:nvPicPr>
          <p:cNvPr id="6" name="Picture 5" descr="A close-up of a white stove&#10;&#10;Description automatically generated with medium confidence">
            <a:extLst>
              <a:ext uri="{FF2B5EF4-FFF2-40B4-BE49-F238E27FC236}">
                <a16:creationId xmlns:a16="http://schemas.microsoft.com/office/drawing/2014/main" id="{4ABB638A-647A-4EA9-F34F-1BD7D3F7E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" y="3702432"/>
            <a:ext cx="3576320" cy="2591546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7B8DE87C-0067-F9BC-EFAC-05D3700901B5}"/>
              </a:ext>
            </a:extLst>
          </p:cNvPr>
          <p:cNvSpPr/>
          <p:nvPr/>
        </p:nvSpPr>
        <p:spPr>
          <a:xfrm>
            <a:off x="4601267" y="3717068"/>
            <a:ext cx="2854960" cy="2500852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Someone used</a:t>
            </a:r>
          </a:p>
          <a:p>
            <a:pPr algn="ctr"/>
            <a:r>
              <a:rPr lang="en-GB" sz="2400" dirty="0"/>
              <a:t>the stove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522E5B90-412A-BCC0-7478-8608858243F5}"/>
              </a:ext>
            </a:extLst>
          </p:cNvPr>
          <p:cNvSpPr/>
          <p:nvPr/>
        </p:nvSpPr>
        <p:spPr>
          <a:xfrm>
            <a:off x="8153402" y="3702432"/>
            <a:ext cx="2854960" cy="2500852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Roommate cooked and skipped diet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F66A3A1-01BB-76DD-CFA7-BFCB922076FC}"/>
              </a:ext>
            </a:extLst>
          </p:cNvPr>
          <p:cNvSpPr/>
          <p:nvPr/>
        </p:nvSpPr>
        <p:spPr>
          <a:xfrm>
            <a:off x="4038600" y="4561840"/>
            <a:ext cx="514465" cy="853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A7CB95-1DCE-1BEA-9F0B-CFCA977F4622}"/>
              </a:ext>
            </a:extLst>
          </p:cNvPr>
          <p:cNvSpPr/>
          <p:nvPr/>
        </p:nvSpPr>
        <p:spPr>
          <a:xfrm>
            <a:off x="7504429" y="4509120"/>
            <a:ext cx="514465" cy="853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80DD5A-E748-8D9A-FD15-BE43ED187C76}"/>
              </a:ext>
            </a:extLst>
          </p:cNvPr>
          <p:cNvSpPr/>
          <p:nvPr/>
        </p:nvSpPr>
        <p:spPr>
          <a:xfrm>
            <a:off x="462280" y="3098800"/>
            <a:ext cx="3576320" cy="58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Side Effect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8698AD-5BD8-7DE0-75A3-561D8464EF9E}"/>
              </a:ext>
            </a:extLst>
          </p:cNvPr>
          <p:cNvSpPr/>
          <p:nvPr/>
        </p:nvSpPr>
        <p:spPr>
          <a:xfrm>
            <a:off x="4500880" y="3122193"/>
            <a:ext cx="2955347" cy="58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Memory 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315E9F-C13B-B8B5-E30A-43C5EF7BEA4D}"/>
              </a:ext>
            </a:extLst>
          </p:cNvPr>
          <p:cNvSpPr/>
          <p:nvPr/>
        </p:nvSpPr>
        <p:spPr>
          <a:xfrm>
            <a:off x="8016212" y="3098800"/>
            <a:ext cx="2955347" cy="58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Secret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57D9D-039E-036D-8EEF-BCFA3ED336D5}"/>
              </a:ext>
            </a:extLst>
          </p:cNvPr>
          <p:cNvSpPr/>
          <p:nvPr/>
        </p:nvSpPr>
        <p:spPr>
          <a:xfrm>
            <a:off x="4409440" y="3015372"/>
            <a:ext cx="6808723" cy="327860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D5E364-34F4-921A-EDA0-0B3AAD551D4F}"/>
              </a:ext>
            </a:extLst>
          </p:cNvPr>
          <p:cNvSpPr txBox="1"/>
          <p:nvPr/>
        </p:nvSpPr>
        <p:spPr>
          <a:xfrm>
            <a:off x="7458710" y="2537656"/>
            <a:ext cx="3759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FC000"/>
                </a:solidFill>
              </a:rPr>
              <a:t>Our Focus</a:t>
            </a:r>
            <a:endParaRPr lang="en-GB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181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2BF5E6-5380-105F-4C1C-3F3A77FA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dirty="0"/>
              <a:t>Related Work: FaultMorse</a:t>
            </a:r>
            <a:r>
              <a:rPr lang="en-US" sz="5000" dirty="0"/>
              <a:t>[5]</a:t>
            </a:r>
            <a:endParaRPr lang="en-GB" sz="50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C838477E-2A42-C1CC-3948-E3C25D810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Published Jan. 2023</a:t>
            </a:r>
          </a:p>
          <a:p>
            <a:r>
              <a:rPr lang="en-US" sz="2200" dirty="0"/>
              <a:t>Approach: Longest Recurring sequence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Limitations:</a:t>
            </a:r>
          </a:p>
          <a:p>
            <a:r>
              <a:rPr lang="en-US" sz="2200" dirty="0"/>
              <a:t>Requires very specific pattern</a:t>
            </a:r>
          </a:p>
          <a:p>
            <a:r>
              <a:rPr lang="en-US" sz="2200" dirty="0"/>
              <a:t>Only Instruction-Access attack</a:t>
            </a:r>
          </a:p>
          <a:p>
            <a:r>
              <a:rPr lang="en-US" sz="2200" dirty="0"/>
              <a:t>No strategy for missing data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2520581-A750-D601-9AFF-B2272E78F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1379664"/>
            <a:ext cx="5458968" cy="40986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69EBE-CD30-D021-B124-B9A7964A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33</a:t>
            </a:fld>
            <a:endParaRPr lang="en-GB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FBC0328-D88B-8D9E-C792-4F1E07AC4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5306" y="4052139"/>
            <a:ext cx="3064094" cy="54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04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D18F-7F64-97BF-7826-4C3B296C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Missing Data</a:t>
            </a:r>
            <a:endParaRPr lang="en-GB" sz="54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1ECFE3-5204-6057-AFA1-AD99E142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400" dirty="0"/>
              <a:t>Challenge: Unknown which index is missing</a:t>
            </a:r>
          </a:p>
          <a:p>
            <a:r>
              <a:rPr lang="en-US" sz="2400" dirty="0"/>
              <a:t>Standard methods (Linear Interpolation, Mean Imputation…) won’t work</a:t>
            </a:r>
            <a:endParaRPr lang="en-GB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C45F42-6D7C-C737-EEB9-07D18313F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4296" y="2316490"/>
            <a:ext cx="6903720" cy="22250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A6D10-A603-7056-174E-8ACB2FB7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48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2FA7B-AE0C-6257-77FC-41065E16C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 b="1" dirty="0"/>
              <a:t>Data-Access:</a:t>
            </a:r>
            <a:br>
              <a:rPr lang="en-US" sz="3000" dirty="0"/>
            </a:br>
            <a:r>
              <a:rPr lang="en-US" sz="3000" dirty="0"/>
              <a:t>Trace-dependent Helper Constraints</a:t>
            </a:r>
            <a:endParaRPr lang="en-GB" sz="30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9379-2E94-7820-A4E4-CE8C320EE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Whenever the enclave does a data-access:</a:t>
            </a:r>
          </a:p>
          <a:p>
            <a:pPr lvl="1"/>
            <a:r>
              <a:rPr lang="en-US" sz="2200" dirty="0"/>
              <a:t>Add information from the trace</a:t>
            </a:r>
          </a:p>
          <a:p>
            <a:pPr lvl="1"/>
            <a:r>
              <a:rPr lang="en-US" sz="2200" dirty="0"/>
              <a:t>Irrelevant information will not affect calculation</a:t>
            </a:r>
          </a:p>
          <a:p>
            <a:pPr lvl="1"/>
            <a:endParaRPr lang="en-US" sz="2200" dirty="0"/>
          </a:p>
          <a:p>
            <a:r>
              <a:rPr lang="en-US" sz="2200" b="1" dirty="0"/>
              <a:t>Expectation:</a:t>
            </a:r>
            <a:r>
              <a:rPr lang="en-US" sz="2200" dirty="0"/>
              <a:t> Information is helpful and simplifies the equation</a:t>
            </a:r>
          </a:p>
          <a:p>
            <a:endParaRPr lang="en-US" sz="2200" dirty="0"/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endParaRPr lang="en-GB" sz="2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8F090B8-795E-CBAE-F1D4-3DCA58F8B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998" y="640080"/>
            <a:ext cx="4711067" cy="55778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27070-F08D-D732-6579-F87F75C2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805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2734-B9F1-BF1E-16AE-30DCCFEC1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3800" b="1" dirty="0"/>
              <a:t>Data Access enclave</a:t>
            </a:r>
            <a:br>
              <a:rPr lang="en-US" sz="3800" dirty="0"/>
            </a:br>
            <a:r>
              <a:rPr lang="en-US" sz="3800" dirty="0"/>
              <a:t>Dynamic Time warping [6] </a:t>
            </a:r>
            <a:endParaRPr lang="en-GB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8F64-CDE1-4B8B-0207-C1780CEED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700" b="1" dirty="0"/>
              <a:t>Calculates Matching </a:t>
            </a:r>
            <a:r>
              <a:rPr lang="en-US" sz="1700" dirty="0"/>
              <a:t>between two time-series</a:t>
            </a:r>
          </a:p>
          <a:p>
            <a:r>
              <a:rPr lang="en-US" sz="1700" dirty="0"/>
              <a:t>Hyperparameter: Window Size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Imputation Method:</a:t>
            </a:r>
          </a:p>
          <a:p>
            <a:r>
              <a:rPr lang="en-GB" sz="1700" dirty="0"/>
              <a:t>Matching: incomplete trace and complete trace</a:t>
            </a:r>
          </a:p>
          <a:p>
            <a:r>
              <a:rPr lang="en-GB" sz="1700" dirty="0"/>
              <a:t>Double matches: Assume </a:t>
            </a:r>
            <a:r>
              <a:rPr lang="en-GB" sz="1700" dirty="0" err="1"/>
              <a:t>NaN</a:t>
            </a:r>
            <a:endParaRPr lang="en-GB" sz="1700" dirty="0"/>
          </a:p>
          <a:p>
            <a:r>
              <a:rPr lang="en-GB" sz="1700" dirty="0"/>
              <a:t>Impute </a:t>
            </a:r>
            <a:r>
              <a:rPr lang="en-GB" sz="1700" dirty="0" err="1"/>
              <a:t>NaN</a:t>
            </a:r>
            <a:r>
              <a:rPr lang="en-GB" sz="1700" dirty="0"/>
              <a:t> with complete trace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1984A1-2E99-2376-8025-FE835D1DE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4296" y="1012698"/>
            <a:ext cx="6903720" cy="483260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B7247-D4C0-6562-2CE4-1A6FED97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4343AE-BF4A-428B-8443-38DEB2A0EDBE}" type="slidenum">
              <a:rPr lang="en-GB" smtClean="0"/>
              <a:pPr>
                <a:spcAft>
                  <a:spcPts val="600"/>
                </a:spcAft>
              </a:pPr>
              <a:t>36</a:t>
            </a:fld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649D52-63D8-BE59-7E0D-52D85F9BA5A9}"/>
              </a:ext>
            </a:extLst>
          </p:cNvPr>
          <p:cNvSpPr/>
          <p:nvPr/>
        </p:nvSpPr>
        <p:spPr>
          <a:xfrm>
            <a:off x="9372600" y="3572933"/>
            <a:ext cx="262467" cy="270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F423C7-1A87-7630-4C92-14593F61E3EB}"/>
              </a:ext>
            </a:extLst>
          </p:cNvPr>
          <p:cNvSpPr/>
          <p:nvPr/>
        </p:nvSpPr>
        <p:spPr>
          <a:xfrm>
            <a:off x="9601202" y="3572932"/>
            <a:ext cx="262467" cy="270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80F580-645F-C8AD-6B98-4AC38BD698A4}"/>
              </a:ext>
            </a:extLst>
          </p:cNvPr>
          <p:cNvSpPr/>
          <p:nvPr/>
        </p:nvSpPr>
        <p:spPr>
          <a:xfrm>
            <a:off x="7171263" y="3572931"/>
            <a:ext cx="262467" cy="270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131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771C-9A31-714E-0BAD-9313576E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Missing Data Access – Dynamic Time Warping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E5050-4048-6E01-D7B1-D1904F075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2"/>
            <a:ext cx="5157787" cy="970917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8 of 8 bytes of secret correct:</a:t>
            </a:r>
          </a:p>
          <a:p>
            <a:r>
              <a:rPr lang="en-GB" b="0" dirty="0"/>
              <a:t>Purple </a:t>
            </a:r>
            <a:r>
              <a:rPr lang="en-US" b="0" dirty="0"/>
              <a:t>= perfect imputation as comparison</a:t>
            </a:r>
          </a:p>
          <a:p>
            <a:r>
              <a:rPr lang="en-GB" b="0" dirty="0"/>
              <a:t>DTW has same accuracy as Perfect imputation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87B97-1BA8-64A5-BD23-54398FB50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7 of 8 bytes of secret correct:</a:t>
            </a:r>
          </a:p>
          <a:p>
            <a:r>
              <a:rPr lang="en-GB" b="0" dirty="0"/>
              <a:t>Window size = 1 within 0.1 of perfect imputation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5B1BE2EB-FA55-B067-5E1E-091FF11DD1C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200" y="2533253"/>
            <a:ext cx="5183188" cy="3628231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FA94-3B2B-7EB1-754F-C9107070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43AE-BF4A-428B-8443-38DEB2A0EDBE}" type="slidenum">
              <a:rPr lang="en-GB" smtClean="0"/>
              <a:t>37</a:t>
            </a:fld>
            <a:endParaRPr lang="en-GB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4B396C2-E071-CC81-B396-7225B5DB38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788" y="2542144"/>
            <a:ext cx="5157787" cy="36104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D23C2-1EAB-4FBC-E1AA-3D6EC577E087}"/>
              </a:ext>
            </a:extLst>
          </p:cNvPr>
          <p:cNvSpPr txBox="1"/>
          <p:nvPr/>
        </p:nvSpPr>
        <p:spPr>
          <a:xfrm>
            <a:off x="907415" y="1431292"/>
            <a:ext cx="502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420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5988</TotalTime>
  <Words>1048</Words>
  <Application>Microsoft Office PowerPoint</Application>
  <PresentationFormat>Widescreen</PresentationFormat>
  <Paragraphs>198</Paragraphs>
  <Slides>37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Wingdings</vt:lpstr>
      <vt:lpstr>Office Theme</vt:lpstr>
      <vt:lpstr>SpySGX: Automatic Reversing of Secrets from Memory Traces in SGX-Enclaves</vt:lpstr>
      <vt:lpstr>Reversing secret from memory traces</vt:lpstr>
      <vt:lpstr>Intel – Software Guard Extension (SGX)</vt:lpstr>
      <vt:lpstr>Main idea</vt:lpstr>
      <vt:lpstr>Our contribution</vt:lpstr>
      <vt:lpstr>Presentation Outline</vt:lpstr>
      <vt:lpstr>Data Collection</vt:lpstr>
      <vt:lpstr>Data Collection: Challenges</vt:lpstr>
      <vt:lpstr>Emulation-based Data Collection</vt:lpstr>
      <vt:lpstr>Data Description</vt:lpstr>
      <vt:lpstr>Methodology: Automatic Reversing Secrets from Memory Traces</vt:lpstr>
      <vt:lpstr>Symbolic execution</vt:lpstr>
      <vt:lpstr>Why symbolic execution?</vt:lpstr>
      <vt:lpstr>Challenge: Path Explosion</vt:lpstr>
      <vt:lpstr>PowerPoint Presentation</vt:lpstr>
      <vt:lpstr>Novel approach: Data-Dependent Path Trimming</vt:lpstr>
      <vt:lpstr>Dealing with Missing Data</vt:lpstr>
      <vt:lpstr>Motivation: Missing data [4]</vt:lpstr>
      <vt:lpstr>PowerPoint Presentation</vt:lpstr>
      <vt:lpstr>Instruction Access enclave Missing Instruction Heuristic</vt:lpstr>
      <vt:lpstr>Results + Discussion</vt:lpstr>
      <vt:lpstr>Reversing Secret from full trace</vt:lpstr>
      <vt:lpstr>Missing Data</vt:lpstr>
      <vt:lpstr>Skipped in presentation</vt:lpstr>
      <vt:lpstr>Limitations</vt:lpstr>
      <vt:lpstr>Impact</vt:lpstr>
      <vt:lpstr>Thank you!</vt:lpstr>
      <vt:lpstr>References</vt:lpstr>
      <vt:lpstr>References</vt:lpstr>
      <vt:lpstr>Image Sources</vt:lpstr>
      <vt:lpstr>Backup slides</vt:lpstr>
      <vt:lpstr>Memory-Access Side-Channel Attacks</vt:lpstr>
      <vt:lpstr>Related Work: FaultMorse[5]</vt:lpstr>
      <vt:lpstr>Missing Data</vt:lpstr>
      <vt:lpstr>Data-Access: Trace-dependent Helper Constraints</vt:lpstr>
      <vt:lpstr>Data Access enclave Dynamic Time warping [6] </vt:lpstr>
      <vt:lpstr>Missing Data Access – Dynamic Time Warping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Spxsgx</dc:title>
  <dc:creator>Youheng Lü (Student)</dc:creator>
  <cp:lastModifiedBy>Youheng Lü (Student)</cp:lastModifiedBy>
  <cp:revision>341</cp:revision>
  <dcterms:created xsi:type="dcterms:W3CDTF">2023-01-23T14:26:50Z</dcterms:created>
  <dcterms:modified xsi:type="dcterms:W3CDTF">2023-06-09T07:45:27Z</dcterms:modified>
</cp:coreProperties>
</file>